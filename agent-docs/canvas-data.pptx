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8"/>
  </p:notesMasterIdLst>
  <p:sldIdLst>
    <p:sldId id="835" r:id="rId5"/>
    <p:sldId id="836" r:id="rId6"/>
    <p:sldId id="837" r:id="rId7"/>
  </p:sldIdLst>
  <p:sldSz cx="17610138" cy="9906000"/>
  <p:notesSz cx="6858000" cy="9144000"/>
  <p:defaultTextStyle>
    <a:defPPr marL="0" marR="0" indent="0" algn="l" defTabSz="402331" rtl="0" fontAlgn="auto" latinLnBrk="1" hangingPunct="0">
      <a:lnSpc>
        <a:spcPct val="100000"/>
      </a:lnSpc>
      <a:spcBef>
        <a:spcPts val="0"/>
      </a:spcBef>
      <a:spcAft>
        <a:spcPts val="0"/>
      </a:spcAft>
      <a:buClrTx/>
      <a:buSzTx/>
      <a:buFontTx/>
      <a:buNone/>
      <a:tabLst/>
      <a:defRPr kumimoji="0" sz="792" b="0" i="0" u="none" strike="noStrike" cap="none" spc="0" normalizeH="0" baseline="0">
        <a:ln>
          <a:noFill/>
        </a:ln>
        <a:solidFill>
          <a:srgbClr val="000000"/>
        </a:solidFill>
        <a:effectLst/>
        <a:uFillTx/>
      </a:defRPr>
    </a:defPPr>
    <a:lvl1pPr marL="0" marR="0" indent="0" algn="l" defTabSz="1072856" rtl="0" fontAlgn="auto" latinLnBrk="0" hangingPunct="0">
      <a:lnSpc>
        <a:spcPct val="100000"/>
      </a:lnSpc>
      <a:spcBef>
        <a:spcPts val="0"/>
      </a:spcBef>
      <a:spcAft>
        <a:spcPts val="0"/>
      </a:spcAft>
      <a:buClrTx/>
      <a:buSzTx/>
      <a:buFontTx/>
      <a:buNone/>
      <a:tabLst/>
      <a:defRPr kumimoji="0" sz="1056" b="0" i="0" u="none" strike="noStrike" cap="none" spc="0" normalizeH="0" baseline="0">
        <a:ln>
          <a:noFill/>
        </a:ln>
        <a:solidFill>
          <a:srgbClr val="E08230"/>
        </a:solidFill>
        <a:effectLst/>
        <a:uFillTx/>
        <a:latin typeface="Helvetica Neue"/>
        <a:ea typeface="Helvetica Neue"/>
        <a:cs typeface="Helvetica Neue"/>
        <a:sym typeface="Helvetica Neue"/>
      </a:defRPr>
    </a:lvl1pPr>
    <a:lvl2pPr marL="0" marR="0" indent="201166" algn="l" defTabSz="1072856" rtl="0" fontAlgn="auto" latinLnBrk="0" hangingPunct="0">
      <a:lnSpc>
        <a:spcPct val="100000"/>
      </a:lnSpc>
      <a:spcBef>
        <a:spcPts val="0"/>
      </a:spcBef>
      <a:spcAft>
        <a:spcPts val="0"/>
      </a:spcAft>
      <a:buClrTx/>
      <a:buSzTx/>
      <a:buFontTx/>
      <a:buNone/>
      <a:tabLst/>
      <a:defRPr kumimoji="0" sz="1056" b="0" i="0" u="none" strike="noStrike" cap="none" spc="0" normalizeH="0" baseline="0">
        <a:ln>
          <a:noFill/>
        </a:ln>
        <a:solidFill>
          <a:srgbClr val="E08230"/>
        </a:solidFill>
        <a:effectLst/>
        <a:uFillTx/>
        <a:latin typeface="Helvetica Neue"/>
        <a:ea typeface="Helvetica Neue"/>
        <a:cs typeface="Helvetica Neue"/>
        <a:sym typeface="Helvetica Neue"/>
      </a:defRPr>
    </a:lvl2pPr>
    <a:lvl3pPr marL="0" marR="0" indent="402331" algn="l" defTabSz="1072856" rtl="0" fontAlgn="auto" latinLnBrk="0" hangingPunct="0">
      <a:lnSpc>
        <a:spcPct val="100000"/>
      </a:lnSpc>
      <a:spcBef>
        <a:spcPts val="0"/>
      </a:spcBef>
      <a:spcAft>
        <a:spcPts val="0"/>
      </a:spcAft>
      <a:buClrTx/>
      <a:buSzTx/>
      <a:buFontTx/>
      <a:buNone/>
      <a:tabLst/>
      <a:defRPr kumimoji="0" sz="1056" b="0" i="0" u="none" strike="noStrike" cap="none" spc="0" normalizeH="0" baseline="0">
        <a:ln>
          <a:noFill/>
        </a:ln>
        <a:solidFill>
          <a:srgbClr val="E08230"/>
        </a:solidFill>
        <a:effectLst/>
        <a:uFillTx/>
        <a:latin typeface="Helvetica Neue"/>
        <a:ea typeface="Helvetica Neue"/>
        <a:cs typeface="Helvetica Neue"/>
        <a:sym typeface="Helvetica Neue"/>
      </a:defRPr>
    </a:lvl3pPr>
    <a:lvl4pPr marL="0" marR="0" indent="603497" algn="l" defTabSz="1072856" rtl="0" fontAlgn="auto" latinLnBrk="0" hangingPunct="0">
      <a:lnSpc>
        <a:spcPct val="100000"/>
      </a:lnSpc>
      <a:spcBef>
        <a:spcPts val="0"/>
      </a:spcBef>
      <a:spcAft>
        <a:spcPts val="0"/>
      </a:spcAft>
      <a:buClrTx/>
      <a:buSzTx/>
      <a:buFontTx/>
      <a:buNone/>
      <a:tabLst/>
      <a:defRPr kumimoji="0" sz="1056" b="0" i="0" u="none" strike="noStrike" cap="none" spc="0" normalizeH="0" baseline="0">
        <a:ln>
          <a:noFill/>
        </a:ln>
        <a:solidFill>
          <a:srgbClr val="E08230"/>
        </a:solidFill>
        <a:effectLst/>
        <a:uFillTx/>
        <a:latin typeface="Helvetica Neue"/>
        <a:ea typeface="Helvetica Neue"/>
        <a:cs typeface="Helvetica Neue"/>
        <a:sym typeface="Helvetica Neue"/>
      </a:defRPr>
    </a:lvl4pPr>
    <a:lvl5pPr marL="0" marR="0" indent="804662" algn="l" defTabSz="1072856" rtl="0" fontAlgn="auto" latinLnBrk="0" hangingPunct="0">
      <a:lnSpc>
        <a:spcPct val="100000"/>
      </a:lnSpc>
      <a:spcBef>
        <a:spcPts val="0"/>
      </a:spcBef>
      <a:spcAft>
        <a:spcPts val="0"/>
      </a:spcAft>
      <a:buClrTx/>
      <a:buSzTx/>
      <a:buFontTx/>
      <a:buNone/>
      <a:tabLst/>
      <a:defRPr kumimoji="0" sz="1056" b="0" i="0" u="none" strike="noStrike" cap="none" spc="0" normalizeH="0" baseline="0">
        <a:ln>
          <a:noFill/>
        </a:ln>
        <a:solidFill>
          <a:srgbClr val="E08230"/>
        </a:solidFill>
        <a:effectLst/>
        <a:uFillTx/>
        <a:latin typeface="Helvetica Neue"/>
        <a:ea typeface="Helvetica Neue"/>
        <a:cs typeface="Helvetica Neue"/>
        <a:sym typeface="Helvetica Neue"/>
      </a:defRPr>
    </a:lvl5pPr>
    <a:lvl6pPr marL="0" marR="0" indent="1005828" algn="l" defTabSz="1072856" rtl="0" fontAlgn="auto" latinLnBrk="0" hangingPunct="0">
      <a:lnSpc>
        <a:spcPct val="100000"/>
      </a:lnSpc>
      <a:spcBef>
        <a:spcPts val="0"/>
      </a:spcBef>
      <a:spcAft>
        <a:spcPts val="0"/>
      </a:spcAft>
      <a:buClrTx/>
      <a:buSzTx/>
      <a:buFontTx/>
      <a:buNone/>
      <a:tabLst/>
      <a:defRPr kumimoji="0" sz="1056" b="0" i="0" u="none" strike="noStrike" cap="none" spc="0" normalizeH="0" baseline="0">
        <a:ln>
          <a:noFill/>
        </a:ln>
        <a:solidFill>
          <a:srgbClr val="E08230"/>
        </a:solidFill>
        <a:effectLst/>
        <a:uFillTx/>
        <a:latin typeface="Helvetica Neue"/>
        <a:ea typeface="Helvetica Neue"/>
        <a:cs typeface="Helvetica Neue"/>
        <a:sym typeface="Helvetica Neue"/>
      </a:defRPr>
    </a:lvl6pPr>
    <a:lvl7pPr marL="0" marR="0" indent="1206993" algn="l" defTabSz="1072856" rtl="0" fontAlgn="auto" latinLnBrk="0" hangingPunct="0">
      <a:lnSpc>
        <a:spcPct val="100000"/>
      </a:lnSpc>
      <a:spcBef>
        <a:spcPts val="0"/>
      </a:spcBef>
      <a:spcAft>
        <a:spcPts val="0"/>
      </a:spcAft>
      <a:buClrTx/>
      <a:buSzTx/>
      <a:buFontTx/>
      <a:buNone/>
      <a:tabLst/>
      <a:defRPr kumimoji="0" sz="1056" b="0" i="0" u="none" strike="noStrike" cap="none" spc="0" normalizeH="0" baseline="0">
        <a:ln>
          <a:noFill/>
        </a:ln>
        <a:solidFill>
          <a:srgbClr val="E08230"/>
        </a:solidFill>
        <a:effectLst/>
        <a:uFillTx/>
        <a:latin typeface="Helvetica Neue"/>
        <a:ea typeface="Helvetica Neue"/>
        <a:cs typeface="Helvetica Neue"/>
        <a:sym typeface="Helvetica Neue"/>
      </a:defRPr>
    </a:lvl7pPr>
    <a:lvl8pPr marL="0" marR="0" indent="1408159" algn="l" defTabSz="1072856" rtl="0" fontAlgn="auto" latinLnBrk="0" hangingPunct="0">
      <a:lnSpc>
        <a:spcPct val="100000"/>
      </a:lnSpc>
      <a:spcBef>
        <a:spcPts val="0"/>
      </a:spcBef>
      <a:spcAft>
        <a:spcPts val="0"/>
      </a:spcAft>
      <a:buClrTx/>
      <a:buSzTx/>
      <a:buFontTx/>
      <a:buNone/>
      <a:tabLst/>
      <a:defRPr kumimoji="0" sz="1056" b="0" i="0" u="none" strike="noStrike" cap="none" spc="0" normalizeH="0" baseline="0">
        <a:ln>
          <a:noFill/>
        </a:ln>
        <a:solidFill>
          <a:srgbClr val="E08230"/>
        </a:solidFill>
        <a:effectLst/>
        <a:uFillTx/>
        <a:latin typeface="Helvetica Neue"/>
        <a:ea typeface="Helvetica Neue"/>
        <a:cs typeface="Helvetica Neue"/>
        <a:sym typeface="Helvetica Neue"/>
      </a:defRPr>
    </a:lvl8pPr>
    <a:lvl9pPr marL="0" marR="0" indent="1609325" algn="l" defTabSz="1072856" rtl="0" fontAlgn="auto" latinLnBrk="0" hangingPunct="0">
      <a:lnSpc>
        <a:spcPct val="100000"/>
      </a:lnSpc>
      <a:spcBef>
        <a:spcPts val="0"/>
      </a:spcBef>
      <a:spcAft>
        <a:spcPts val="0"/>
      </a:spcAft>
      <a:buClrTx/>
      <a:buSzTx/>
      <a:buFontTx/>
      <a:buNone/>
      <a:tabLst/>
      <a:defRPr kumimoji="0" sz="1056" b="0" i="0" u="none" strike="noStrike" cap="none" spc="0" normalizeH="0" baseline="0">
        <a:ln>
          <a:noFill/>
        </a:ln>
        <a:solidFill>
          <a:srgbClr val="E0823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ABCE3"/>
    <a:srgbClr val="EDF1F6"/>
    <a:srgbClr val="DCE9F4"/>
    <a:srgbClr val="5E5E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
          <a:latin typeface="Helvetica Neue"/>
          <a:ea typeface="Helvetica Neue"/>
          <a:cs typeface="Helvetica Neue"/>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
          <a:latin typeface="Helvetica Neue"/>
          <a:ea typeface="Helvetica Neue"/>
          <a:cs typeface="Helvetica Neue"/>
        </a:font>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
          <a:latin typeface="Helvetica Neue"/>
          <a:ea typeface="Helvetica Neue"/>
          <a:cs typeface="Helvetica Neue"/>
        </a:font>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
          <a:latin typeface="Helvetica Neue"/>
          <a:ea typeface="Helvetica Neue"/>
          <a:cs typeface="Helvetica Neue"/>
        </a:font>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Geen stijl, tabel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288"/>
    <p:restoredTop sz="92603"/>
  </p:normalViewPr>
  <p:slideViewPr>
    <p:cSldViewPr snapToGrid="0">
      <p:cViewPr varScale="1">
        <p:scale>
          <a:sx n="77" d="100"/>
          <a:sy n="77" d="100"/>
        </p:scale>
        <p:origin x="200" y="3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5" name="Shape 115"/>
          <p:cNvSpPr>
            <a:spLocks noGrp="1" noRot="1" noChangeAspect="1"/>
          </p:cNvSpPr>
          <p:nvPr>
            <p:ph type="sldImg"/>
          </p:nvPr>
        </p:nvSpPr>
        <p:spPr>
          <a:xfrm>
            <a:off x="382588" y="685800"/>
            <a:ext cx="6092825" cy="3429000"/>
          </a:xfrm>
          <a:prstGeom prst="rect">
            <a:avLst/>
          </a:prstGeom>
        </p:spPr>
        <p:txBody>
          <a:bodyPr/>
          <a:lstStyle/>
          <a:p>
            <a:endParaRPr/>
          </a:p>
        </p:txBody>
      </p:sp>
      <p:sp>
        <p:nvSpPr>
          <p:cNvPr id="116" name="Shape 11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01166" latinLnBrk="0">
      <a:lnSpc>
        <a:spcPct val="117999"/>
      </a:lnSpc>
      <a:defRPr sz="968">
        <a:latin typeface="Helvetica Neue"/>
        <a:ea typeface="Helvetica Neue"/>
        <a:cs typeface="Helvetica Neue"/>
        <a:sym typeface="Helvetica Neue"/>
      </a:defRPr>
    </a:lvl1pPr>
    <a:lvl2pPr indent="100583" defTabSz="201166" latinLnBrk="0">
      <a:lnSpc>
        <a:spcPct val="117999"/>
      </a:lnSpc>
      <a:defRPr sz="968">
        <a:latin typeface="Helvetica Neue"/>
        <a:ea typeface="Helvetica Neue"/>
        <a:cs typeface="Helvetica Neue"/>
        <a:sym typeface="Helvetica Neue"/>
      </a:defRPr>
    </a:lvl2pPr>
    <a:lvl3pPr indent="201166" defTabSz="201166" latinLnBrk="0">
      <a:lnSpc>
        <a:spcPct val="117999"/>
      </a:lnSpc>
      <a:defRPr sz="968">
        <a:latin typeface="Helvetica Neue"/>
        <a:ea typeface="Helvetica Neue"/>
        <a:cs typeface="Helvetica Neue"/>
        <a:sym typeface="Helvetica Neue"/>
      </a:defRPr>
    </a:lvl3pPr>
    <a:lvl4pPr indent="301748" defTabSz="201166" latinLnBrk="0">
      <a:lnSpc>
        <a:spcPct val="117999"/>
      </a:lnSpc>
      <a:defRPr sz="968">
        <a:latin typeface="Helvetica Neue"/>
        <a:ea typeface="Helvetica Neue"/>
        <a:cs typeface="Helvetica Neue"/>
        <a:sym typeface="Helvetica Neue"/>
      </a:defRPr>
    </a:lvl4pPr>
    <a:lvl5pPr indent="402331" defTabSz="201166" latinLnBrk="0">
      <a:lnSpc>
        <a:spcPct val="117999"/>
      </a:lnSpc>
      <a:defRPr sz="968">
        <a:latin typeface="Helvetica Neue"/>
        <a:ea typeface="Helvetica Neue"/>
        <a:cs typeface="Helvetica Neue"/>
        <a:sym typeface="Helvetica Neue"/>
      </a:defRPr>
    </a:lvl5pPr>
    <a:lvl6pPr indent="502914" defTabSz="201166" latinLnBrk="0">
      <a:lnSpc>
        <a:spcPct val="117999"/>
      </a:lnSpc>
      <a:defRPr sz="968">
        <a:latin typeface="Helvetica Neue"/>
        <a:ea typeface="Helvetica Neue"/>
        <a:cs typeface="Helvetica Neue"/>
        <a:sym typeface="Helvetica Neue"/>
      </a:defRPr>
    </a:lvl6pPr>
    <a:lvl7pPr indent="603497" defTabSz="201166" latinLnBrk="0">
      <a:lnSpc>
        <a:spcPct val="117999"/>
      </a:lnSpc>
      <a:defRPr sz="968">
        <a:latin typeface="Helvetica Neue"/>
        <a:ea typeface="Helvetica Neue"/>
        <a:cs typeface="Helvetica Neue"/>
        <a:sym typeface="Helvetica Neue"/>
      </a:defRPr>
    </a:lvl7pPr>
    <a:lvl8pPr indent="704080" defTabSz="201166" latinLnBrk="0">
      <a:lnSpc>
        <a:spcPct val="117999"/>
      </a:lnSpc>
      <a:defRPr sz="968">
        <a:latin typeface="Helvetica Neue"/>
        <a:ea typeface="Helvetica Neue"/>
        <a:cs typeface="Helvetica Neue"/>
        <a:sym typeface="Helvetica Neue"/>
      </a:defRPr>
    </a:lvl8pPr>
    <a:lvl9pPr indent="804662" defTabSz="201166" latinLnBrk="0">
      <a:lnSpc>
        <a:spcPct val="117999"/>
      </a:lnSpc>
      <a:defRPr sz="968">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875971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Afbeelding" descr="Afbeelding"/>
          <p:cNvPicPr>
            <a:picLocks noChangeAspect="1"/>
          </p:cNvPicPr>
          <p:nvPr/>
        </p:nvPicPr>
        <p:blipFill>
          <a:blip r:embed="rId3">
            <a:alphaModFix amt="80025"/>
          </a:blip>
          <a:stretch>
            <a:fillRect/>
          </a:stretch>
        </p:blipFill>
        <p:spPr>
          <a:xfrm>
            <a:off x="11342097" y="-3670859"/>
            <a:ext cx="7755445" cy="7755689"/>
          </a:xfrm>
          <a:prstGeom prst="rect">
            <a:avLst/>
          </a:prstGeom>
          <a:ln w="12700">
            <a:miter lim="400000"/>
          </a:ln>
        </p:spPr>
      </p:pic>
      <p:sp>
        <p:nvSpPr>
          <p:cNvPr id="3" name="Naam dia"/>
          <p:cNvSpPr txBox="1">
            <a:spLocks noGrp="1"/>
          </p:cNvSpPr>
          <p:nvPr>
            <p:ph type="title" hasCustomPrompt="1"/>
          </p:nvPr>
        </p:nvSpPr>
        <p:spPr>
          <a:xfrm>
            <a:off x="871337" y="779640"/>
            <a:ext cx="15867469" cy="10364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Naam dia</a:t>
            </a:r>
          </a:p>
        </p:txBody>
      </p:sp>
      <p:sp>
        <p:nvSpPr>
          <p:cNvPr id="4" name="Hoofdtekst - niveau één…"/>
          <p:cNvSpPr txBox="1">
            <a:spLocks noGrp="1"/>
          </p:cNvSpPr>
          <p:nvPr>
            <p:ph type="body" idx="1" hasCustomPrompt="1"/>
          </p:nvPr>
        </p:nvSpPr>
        <p:spPr>
          <a:xfrm>
            <a:off x="871337" y="3068364"/>
            <a:ext cx="15867469" cy="59626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Dia-opsommingstekst</a:t>
            </a:r>
          </a:p>
          <a:p>
            <a:pPr lvl="1"/>
            <a:endParaRPr/>
          </a:p>
          <a:p>
            <a:pPr lvl="2"/>
            <a:endParaRPr/>
          </a:p>
          <a:p>
            <a:pPr lvl="3"/>
            <a:endParaRPr/>
          </a:p>
          <a:p>
            <a:pPr lvl="4"/>
            <a:endParaRPr/>
          </a:p>
        </p:txBody>
      </p:sp>
      <p:sp>
        <p:nvSpPr>
          <p:cNvPr id="5" name="Dianummer"/>
          <p:cNvSpPr txBox="1">
            <a:spLocks noGrp="1"/>
          </p:cNvSpPr>
          <p:nvPr>
            <p:ph type="sldNum" sz="quarter" idx="2"/>
          </p:nvPr>
        </p:nvSpPr>
        <p:spPr>
          <a:xfrm>
            <a:off x="8608196" y="9415415"/>
            <a:ext cx="384721" cy="302519"/>
          </a:xfrm>
          <a:prstGeom prst="rect">
            <a:avLst/>
          </a:prstGeom>
          <a:ln w="12700">
            <a:miter lim="400000"/>
          </a:ln>
        </p:spPr>
        <p:txBody>
          <a:bodyPr wrap="none" lIns="50800" tIns="50800" rIns="50800" bIns="50800" anchor="b">
            <a:spAutoFit/>
          </a:bodyPr>
          <a:lstStyle>
            <a:lvl1pPr algn="ctr" defTabSz="421979">
              <a:defRPr sz="1299">
                <a:solidFill>
                  <a:srgbClr val="FFFFFF"/>
                </a:solidFill>
              </a:defRPr>
            </a:lvl1pPr>
          </a:lstStyle>
          <a:p>
            <a:fld id="{86CB4B4D-7CA3-9044-876B-883B54F8677D}" type="slidenum">
              <a:t>‹nr.›</a:t>
            </a:fld>
            <a:endParaRPr/>
          </a:p>
        </p:txBody>
      </p:sp>
    </p:spTree>
  </p:cSld>
  <p:clrMap bg1="dk1" tx1="lt1" bg2="dk2" tx2="lt2" accent1="accent1" accent2="accent2" accent3="accent3" accent4="accent4" accent5="accent5" accent6="accent6" hlink="hlink" folHlink="folHlink"/>
  <p:sldLayoutIdLst>
    <p:sldLayoutId id="2147483654" r:id="rId1"/>
  </p:sldLayoutIdLst>
  <p:transition spd="med"/>
  <p:txStyles>
    <p:titleStyle>
      <a:lvl1pPr marL="0" marR="0" indent="0" algn="l" defTabSz="1761264" rtl="0" latinLnBrk="0">
        <a:lnSpc>
          <a:spcPct val="90000"/>
        </a:lnSpc>
        <a:spcBef>
          <a:spcPts val="0"/>
        </a:spcBef>
        <a:spcAft>
          <a:spcPts val="0"/>
        </a:spcAft>
        <a:buClrTx/>
        <a:buSzTx/>
        <a:buFontTx/>
        <a:buNone/>
        <a:tabLst/>
        <a:defRPr sz="6140" b="1" i="0" u="none" strike="noStrike" cap="none" spc="-123" baseline="0">
          <a:solidFill>
            <a:srgbClr val="2D2768"/>
          </a:solidFill>
          <a:uFillTx/>
          <a:latin typeface="+mn-lt"/>
          <a:ea typeface="+mn-ea"/>
          <a:cs typeface="+mn-cs"/>
          <a:sym typeface="Helvetica"/>
        </a:defRPr>
      </a:lvl1pPr>
      <a:lvl2pPr marL="0" marR="0" indent="330245" algn="l" defTabSz="1761264" rtl="0" latinLnBrk="0">
        <a:lnSpc>
          <a:spcPct val="90000"/>
        </a:lnSpc>
        <a:spcBef>
          <a:spcPts val="0"/>
        </a:spcBef>
        <a:spcAft>
          <a:spcPts val="0"/>
        </a:spcAft>
        <a:buClrTx/>
        <a:buSzTx/>
        <a:buFontTx/>
        <a:buNone/>
        <a:tabLst/>
        <a:defRPr sz="6140" b="1" i="0" u="none" strike="noStrike" cap="none" spc="-123" baseline="0">
          <a:solidFill>
            <a:srgbClr val="2D2768"/>
          </a:solidFill>
          <a:uFillTx/>
          <a:latin typeface="+mn-lt"/>
          <a:ea typeface="+mn-ea"/>
          <a:cs typeface="+mn-cs"/>
          <a:sym typeface="Helvetica"/>
        </a:defRPr>
      </a:lvl2pPr>
      <a:lvl3pPr marL="0" marR="0" indent="660492" algn="l" defTabSz="1761264" rtl="0" latinLnBrk="0">
        <a:lnSpc>
          <a:spcPct val="90000"/>
        </a:lnSpc>
        <a:spcBef>
          <a:spcPts val="0"/>
        </a:spcBef>
        <a:spcAft>
          <a:spcPts val="0"/>
        </a:spcAft>
        <a:buClrTx/>
        <a:buSzTx/>
        <a:buFontTx/>
        <a:buNone/>
        <a:tabLst/>
        <a:defRPr sz="6140" b="1" i="0" u="none" strike="noStrike" cap="none" spc="-123" baseline="0">
          <a:solidFill>
            <a:srgbClr val="2D2768"/>
          </a:solidFill>
          <a:uFillTx/>
          <a:latin typeface="+mn-lt"/>
          <a:ea typeface="+mn-ea"/>
          <a:cs typeface="+mn-cs"/>
          <a:sym typeface="Helvetica"/>
        </a:defRPr>
      </a:lvl3pPr>
      <a:lvl4pPr marL="0" marR="0" indent="990737" algn="l" defTabSz="1761264" rtl="0" latinLnBrk="0">
        <a:lnSpc>
          <a:spcPct val="90000"/>
        </a:lnSpc>
        <a:spcBef>
          <a:spcPts val="0"/>
        </a:spcBef>
        <a:spcAft>
          <a:spcPts val="0"/>
        </a:spcAft>
        <a:buClrTx/>
        <a:buSzTx/>
        <a:buFontTx/>
        <a:buNone/>
        <a:tabLst/>
        <a:defRPr sz="6140" b="1" i="0" u="none" strike="noStrike" cap="none" spc="-123" baseline="0">
          <a:solidFill>
            <a:srgbClr val="2D2768"/>
          </a:solidFill>
          <a:uFillTx/>
          <a:latin typeface="+mn-lt"/>
          <a:ea typeface="+mn-ea"/>
          <a:cs typeface="+mn-cs"/>
          <a:sym typeface="Helvetica"/>
        </a:defRPr>
      </a:lvl4pPr>
      <a:lvl5pPr marL="0" marR="0" indent="1320982" algn="l" defTabSz="1761264" rtl="0" latinLnBrk="0">
        <a:lnSpc>
          <a:spcPct val="90000"/>
        </a:lnSpc>
        <a:spcBef>
          <a:spcPts val="0"/>
        </a:spcBef>
        <a:spcAft>
          <a:spcPts val="0"/>
        </a:spcAft>
        <a:buClrTx/>
        <a:buSzTx/>
        <a:buFontTx/>
        <a:buNone/>
        <a:tabLst/>
        <a:defRPr sz="6140" b="1" i="0" u="none" strike="noStrike" cap="none" spc="-123" baseline="0">
          <a:solidFill>
            <a:srgbClr val="2D2768"/>
          </a:solidFill>
          <a:uFillTx/>
          <a:latin typeface="+mn-lt"/>
          <a:ea typeface="+mn-ea"/>
          <a:cs typeface="+mn-cs"/>
          <a:sym typeface="Helvetica"/>
        </a:defRPr>
      </a:lvl5pPr>
      <a:lvl6pPr marL="0" marR="0" indent="1651229" algn="l" defTabSz="1761264" rtl="0" latinLnBrk="0">
        <a:lnSpc>
          <a:spcPct val="90000"/>
        </a:lnSpc>
        <a:spcBef>
          <a:spcPts val="0"/>
        </a:spcBef>
        <a:spcAft>
          <a:spcPts val="0"/>
        </a:spcAft>
        <a:buClrTx/>
        <a:buSzTx/>
        <a:buFontTx/>
        <a:buNone/>
        <a:tabLst/>
        <a:defRPr sz="6140" b="1" i="0" u="none" strike="noStrike" cap="none" spc="-123" baseline="0">
          <a:solidFill>
            <a:srgbClr val="2D2768"/>
          </a:solidFill>
          <a:uFillTx/>
          <a:latin typeface="+mn-lt"/>
          <a:ea typeface="+mn-ea"/>
          <a:cs typeface="+mn-cs"/>
          <a:sym typeface="Helvetica"/>
        </a:defRPr>
      </a:lvl6pPr>
      <a:lvl7pPr marL="0" marR="0" indent="1981474" algn="l" defTabSz="1761264" rtl="0" latinLnBrk="0">
        <a:lnSpc>
          <a:spcPct val="90000"/>
        </a:lnSpc>
        <a:spcBef>
          <a:spcPts val="0"/>
        </a:spcBef>
        <a:spcAft>
          <a:spcPts val="0"/>
        </a:spcAft>
        <a:buClrTx/>
        <a:buSzTx/>
        <a:buFontTx/>
        <a:buNone/>
        <a:tabLst/>
        <a:defRPr sz="6140" b="1" i="0" u="none" strike="noStrike" cap="none" spc="-123" baseline="0">
          <a:solidFill>
            <a:srgbClr val="2D2768"/>
          </a:solidFill>
          <a:uFillTx/>
          <a:latin typeface="+mn-lt"/>
          <a:ea typeface="+mn-ea"/>
          <a:cs typeface="+mn-cs"/>
          <a:sym typeface="Helvetica"/>
        </a:defRPr>
      </a:lvl7pPr>
      <a:lvl8pPr marL="0" marR="0" indent="2311721" algn="l" defTabSz="1761264" rtl="0" latinLnBrk="0">
        <a:lnSpc>
          <a:spcPct val="90000"/>
        </a:lnSpc>
        <a:spcBef>
          <a:spcPts val="0"/>
        </a:spcBef>
        <a:spcAft>
          <a:spcPts val="0"/>
        </a:spcAft>
        <a:buClrTx/>
        <a:buSzTx/>
        <a:buFontTx/>
        <a:buNone/>
        <a:tabLst/>
        <a:defRPr sz="6140" b="1" i="0" u="none" strike="noStrike" cap="none" spc="-123" baseline="0">
          <a:solidFill>
            <a:srgbClr val="2D2768"/>
          </a:solidFill>
          <a:uFillTx/>
          <a:latin typeface="+mn-lt"/>
          <a:ea typeface="+mn-ea"/>
          <a:cs typeface="+mn-cs"/>
          <a:sym typeface="Helvetica"/>
        </a:defRPr>
      </a:lvl8pPr>
      <a:lvl9pPr marL="0" marR="0" indent="2641966" algn="l" defTabSz="1761264" rtl="0" latinLnBrk="0">
        <a:lnSpc>
          <a:spcPct val="90000"/>
        </a:lnSpc>
        <a:spcBef>
          <a:spcPts val="0"/>
        </a:spcBef>
        <a:spcAft>
          <a:spcPts val="0"/>
        </a:spcAft>
        <a:buClrTx/>
        <a:buSzTx/>
        <a:buFontTx/>
        <a:buNone/>
        <a:tabLst/>
        <a:defRPr sz="6140" b="1" i="0" u="none" strike="noStrike" cap="none" spc="-123" baseline="0">
          <a:solidFill>
            <a:srgbClr val="2D2768"/>
          </a:solidFill>
          <a:uFillTx/>
          <a:latin typeface="+mn-lt"/>
          <a:ea typeface="+mn-ea"/>
          <a:cs typeface="+mn-cs"/>
          <a:sym typeface="Helvetica"/>
        </a:defRPr>
      </a:lvl9pPr>
    </p:titleStyle>
    <p:bodyStyle>
      <a:lvl1pPr marL="440326" marR="0" indent="-440326" algn="l" defTabSz="1761264" rtl="0" latinLnBrk="0">
        <a:lnSpc>
          <a:spcPct val="90000"/>
        </a:lnSpc>
        <a:spcBef>
          <a:spcPts val="3251"/>
        </a:spcBef>
        <a:spcAft>
          <a:spcPts val="0"/>
        </a:spcAft>
        <a:buClrTx/>
        <a:buSzPct val="123000"/>
        <a:buFontTx/>
        <a:buChar char="•"/>
        <a:tabLst/>
        <a:defRPr sz="3467" b="0" i="0" u="none" strike="noStrike" cap="none" spc="0" baseline="0">
          <a:solidFill>
            <a:srgbClr val="4B4586"/>
          </a:solidFill>
          <a:uFillTx/>
          <a:latin typeface="+mn-lt"/>
          <a:ea typeface="+mn-ea"/>
          <a:cs typeface="+mn-cs"/>
          <a:sym typeface="Helvetica"/>
        </a:defRPr>
      </a:lvl1pPr>
      <a:lvl2pPr marL="880655" marR="0" indent="-440326" algn="l" defTabSz="1761264" rtl="0" latinLnBrk="0">
        <a:lnSpc>
          <a:spcPct val="90000"/>
        </a:lnSpc>
        <a:spcBef>
          <a:spcPts val="3251"/>
        </a:spcBef>
        <a:spcAft>
          <a:spcPts val="0"/>
        </a:spcAft>
        <a:buClrTx/>
        <a:buSzPct val="123000"/>
        <a:buFontTx/>
        <a:buChar char="•"/>
        <a:tabLst/>
        <a:defRPr sz="3467" b="0" i="0" u="none" strike="noStrike" cap="none" spc="0" baseline="0">
          <a:solidFill>
            <a:srgbClr val="4B4586"/>
          </a:solidFill>
          <a:uFillTx/>
          <a:latin typeface="+mn-lt"/>
          <a:ea typeface="+mn-ea"/>
          <a:cs typeface="+mn-cs"/>
          <a:sym typeface="Helvetica"/>
        </a:defRPr>
      </a:lvl2pPr>
      <a:lvl3pPr marL="1320982" marR="0" indent="-440326" algn="l" defTabSz="1761264" rtl="0" latinLnBrk="0">
        <a:lnSpc>
          <a:spcPct val="90000"/>
        </a:lnSpc>
        <a:spcBef>
          <a:spcPts val="3251"/>
        </a:spcBef>
        <a:spcAft>
          <a:spcPts val="0"/>
        </a:spcAft>
        <a:buClrTx/>
        <a:buSzPct val="123000"/>
        <a:buFontTx/>
        <a:buChar char="•"/>
        <a:tabLst/>
        <a:defRPr sz="3467" b="0" i="0" u="none" strike="noStrike" cap="none" spc="0" baseline="0">
          <a:solidFill>
            <a:srgbClr val="4B4586"/>
          </a:solidFill>
          <a:uFillTx/>
          <a:latin typeface="+mn-lt"/>
          <a:ea typeface="+mn-ea"/>
          <a:cs typeface="+mn-cs"/>
          <a:sym typeface="Helvetica"/>
        </a:defRPr>
      </a:lvl3pPr>
      <a:lvl4pPr marL="1761311" marR="0" indent="-440326" algn="l" defTabSz="1761264" rtl="0" latinLnBrk="0">
        <a:lnSpc>
          <a:spcPct val="90000"/>
        </a:lnSpc>
        <a:spcBef>
          <a:spcPts val="3251"/>
        </a:spcBef>
        <a:spcAft>
          <a:spcPts val="0"/>
        </a:spcAft>
        <a:buClrTx/>
        <a:buSzPct val="123000"/>
        <a:buFontTx/>
        <a:buChar char="•"/>
        <a:tabLst/>
        <a:defRPr sz="3467" b="0" i="0" u="none" strike="noStrike" cap="none" spc="0" baseline="0">
          <a:solidFill>
            <a:srgbClr val="4B4586"/>
          </a:solidFill>
          <a:uFillTx/>
          <a:latin typeface="+mn-lt"/>
          <a:ea typeface="+mn-ea"/>
          <a:cs typeface="+mn-cs"/>
          <a:sym typeface="Helvetica"/>
        </a:defRPr>
      </a:lvl4pPr>
      <a:lvl5pPr marL="2201637" marR="0" indent="-440326" algn="l" defTabSz="1761264" rtl="0" latinLnBrk="0">
        <a:lnSpc>
          <a:spcPct val="90000"/>
        </a:lnSpc>
        <a:spcBef>
          <a:spcPts val="3251"/>
        </a:spcBef>
        <a:spcAft>
          <a:spcPts val="0"/>
        </a:spcAft>
        <a:buClrTx/>
        <a:buSzPct val="123000"/>
        <a:buFontTx/>
        <a:buChar char="•"/>
        <a:tabLst/>
        <a:defRPr sz="3467" b="0" i="0" u="none" strike="noStrike" cap="none" spc="0" baseline="0">
          <a:solidFill>
            <a:srgbClr val="4B4586"/>
          </a:solidFill>
          <a:uFillTx/>
          <a:latin typeface="+mn-lt"/>
          <a:ea typeface="+mn-ea"/>
          <a:cs typeface="+mn-cs"/>
          <a:sym typeface="Helvetica"/>
        </a:defRPr>
      </a:lvl5pPr>
      <a:lvl6pPr marL="2641966" marR="0" indent="-440326" algn="l" defTabSz="1761264" rtl="0" latinLnBrk="0">
        <a:lnSpc>
          <a:spcPct val="90000"/>
        </a:lnSpc>
        <a:spcBef>
          <a:spcPts val="3251"/>
        </a:spcBef>
        <a:spcAft>
          <a:spcPts val="0"/>
        </a:spcAft>
        <a:buClrTx/>
        <a:buSzPct val="123000"/>
        <a:buFontTx/>
        <a:buChar char="•"/>
        <a:tabLst/>
        <a:defRPr sz="3467" b="0" i="0" u="none" strike="noStrike" cap="none" spc="0" baseline="0">
          <a:solidFill>
            <a:srgbClr val="4B4586"/>
          </a:solidFill>
          <a:uFillTx/>
          <a:latin typeface="+mn-lt"/>
          <a:ea typeface="+mn-ea"/>
          <a:cs typeface="+mn-cs"/>
          <a:sym typeface="Helvetica"/>
        </a:defRPr>
      </a:lvl6pPr>
      <a:lvl7pPr marL="3082292" marR="0" indent="-440326" algn="l" defTabSz="1761264" rtl="0" latinLnBrk="0">
        <a:lnSpc>
          <a:spcPct val="90000"/>
        </a:lnSpc>
        <a:spcBef>
          <a:spcPts val="3251"/>
        </a:spcBef>
        <a:spcAft>
          <a:spcPts val="0"/>
        </a:spcAft>
        <a:buClrTx/>
        <a:buSzPct val="123000"/>
        <a:buFontTx/>
        <a:buChar char="•"/>
        <a:tabLst/>
        <a:defRPr sz="3467" b="0" i="0" u="none" strike="noStrike" cap="none" spc="0" baseline="0">
          <a:solidFill>
            <a:srgbClr val="4B4586"/>
          </a:solidFill>
          <a:uFillTx/>
          <a:latin typeface="+mn-lt"/>
          <a:ea typeface="+mn-ea"/>
          <a:cs typeface="+mn-cs"/>
          <a:sym typeface="Helvetica"/>
        </a:defRPr>
      </a:lvl7pPr>
      <a:lvl8pPr marL="3522621" marR="0" indent="-440326" algn="l" defTabSz="1761264" rtl="0" latinLnBrk="0">
        <a:lnSpc>
          <a:spcPct val="90000"/>
        </a:lnSpc>
        <a:spcBef>
          <a:spcPts val="3251"/>
        </a:spcBef>
        <a:spcAft>
          <a:spcPts val="0"/>
        </a:spcAft>
        <a:buClrTx/>
        <a:buSzPct val="123000"/>
        <a:buFontTx/>
        <a:buChar char="•"/>
        <a:tabLst/>
        <a:defRPr sz="3467" b="0" i="0" u="none" strike="noStrike" cap="none" spc="0" baseline="0">
          <a:solidFill>
            <a:srgbClr val="4B4586"/>
          </a:solidFill>
          <a:uFillTx/>
          <a:latin typeface="+mn-lt"/>
          <a:ea typeface="+mn-ea"/>
          <a:cs typeface="+mn-cs"/>
          <a:sym typeface="Helvetica"/>
        </a:defRPr>
      </a:lvl8pPr>
      <a:lvl9pPr marL="3962947" marR="0" indent="-440326" algn="l" defTabSz="1761264" rtl="0" latinLnBrk="0">
        <a:lnSpc>
          <a:spcPct val="90000"/>
        </a:lnSpc>
        <a:spcBef>
          <a:spcPts val="3251"/>
        </a:spcBef>
        <a:spcAft>
          <a:spcPts val="0"/>
        </a:spcAft>
        <a:buClrTx/>
        <a:buSzPct val="123000"/>
        <a:buFontTx/>
        <a:buChar char="•"/>
        <a:tabLst/>
        <a:defRPr sz="3467" b="0" i="0" u="none" strike="noStrike" cap="none" spc="0" baseline="0">
          <a:solidFill>
            <a:srgbClr val="4B4586"/>
          </a:solidFill>
          <a:uFillTx/>
          <a:latin typeface="+mn-lt"/>
          <a:ea typeface="+mn-ea"/>
          <a:cs typeface="+mn-cs"/>
          <a:sym typeface="Helvetica"/>
        </a:defRPr>
      </a:lvl9pPr>
    </p:bodyStyle>
    <p:otherStyle>
      <a:lvl1pPr marL="0" marR="0" indent="0" algn="ctr" defTabSz="421979" rtl="0" latinLnBrk="0">
        <a:lnSpc>
          <a:spcPct val="100000"/>
        </a:lnSpc>
        <a:spcBef>
          <a:spcPts val="0"/>
        </a:spcBef>
        <a:spcAft>
          <a:spcPts val="0"/>
        </a:spcAft>
        <a:buClrTx/>
        <a:buSzTx/>
        <a:buFontTx/>
        <a:buNone/>
        <a:tabLst/>
        <a:defRPr sz="1299" b="0" i="0" u="none" strike="noStrike" cap="none" spc="0" baseline="0">
          <a:solidFill>
            <a:schemeClr val="tx1"/>
          </a:solidFill>
          <a:uFillTx/>
          <a:latin typeface="+mn-lt"/>
          <a:ea typeface="+mn-ea"/>
          <a:cs typeface="+mn-cs"/>
          <a:sym typeface="Helvetica Neue"/>
        </a:defRPr>
      </a:lvl1pPr>
      <a:lvl2pPr marL="0" marR="0" indent="330245" algn="ctr" defTabSz="421979" rtl="0" latinLnBrk="0">
        <a:lnSpc>
          <a:spcPct val="100000"/>
        </a:lnSpc>
        <a:spcBef>
          <a:spcPts val="0"/>
        </a:spcBef>
        <a:spcAft>
          <a:spcPts val="0"/>
        </a:spcAft>
        <a:buClrTx/>
        <a:buSzTx/>
        <a:buFontTx/>
        <a:buNone/>
        <a:tabLst/>
        <a:defRPr sz="1299" b="0" i="0" u="none" strike="noStrike" cap="none" spc="0" baseline="0">
          <a:solidFill>
            <a:schemeClr val="tx1"/>
          </a:solidFill>
          <a:uFillTx/>
          <a:latin typeface="+mn-lt"/>
          <a:ea typeface="+mn-ea"/>
          <a:cs typeface="+mn-cs"/>
          <a:sym typeface="Helvetica Neue"/>
        </a:defRPr>
      </a:lvl2pPr>
      <a:lvl3pPr marL="0" marR="0" indent="660492" algn="ctr" defTabSz="421979" rtl="0" latinLnBrk="0">
        <a:lnSpc>
          <a:spcPct val="100000"/>
        </a:lnSpc>
        <a:spcBef>
          <a:spcPts val="0"/>
        </a:spcBef>
        <a:spcAft>
          <a:spcPts val="0"/>
        </a:spcAft>
        <a:buClrTx/>
        <a:buSzTx/>
        <a:buFontTx/>
        <a:buNone/>
        <a:tabLst/>
        <a:defRPr sz="1299" b="0" i="0" u="none" strike="noStrike" cap="none" spc="0" baseline="0">
          <a:solidFill>
            <a:schemeClr val="tx1"/>
          </a:solidFill>
          <a:uFillTx/>
          <a:latin typeface="+mn-lt"/>
          <a:ea typeface="+mn-ea"/>
          <a:cs typeface="+mn-cs"/>
          <a:sym typeface="Helvetica Neue"/>
        </a:defRPr>
      </a:lvl3pPr>
      <a:lvl4pPr marL="0" marR="0" indent="990737" algn="ctr" defTabSz="421979" rtl="0" latinLnBrk="0">
        <a:lnSpc>
          <a:spcPct val="100000"/>
        </a:lnSpc>
        <a:spcBef>
          <a:spcPts val="0"/>
        </a:spcBef>
        <a:spcAft>
          <a:spcPts val="0"/>
        </a:spcAft>
        <a:buClrTx/>
        <a:buSzTx/>
        <a:buFontTx/>
        <a:buNone/>
        <a:tabLst/>
        <a:defRPr sz="1299" b="0" i="0" u="none" strike="noStrike" cap="none" spc="0" baseline="0">
          <a:solidFill>
            <a:schemeClr val="tx1"/>
          </a:solidFill>
          <a:uFillTx/>
          <a:latin typeface="+mn-lt"/>
          <a:ea typeface="+mn-ea"/>
          <a:cs typeface="+mn-cs"/>
          <a:sym typeface="Helvetica Neue"/>
        </a:defRPr>
      </a:lvl4pPr>
      <a:lvl5pPr marL="0" marR="0" indent="1320982" algn="ctr" defTabSz="421979" rtl="0" latinLnBrk="0">
        <a:lnSpc>
          <a:spcPct val="100000"/>
        </a:lnSpc>
        <a:spcBef>
          <a:spcPts val="0"/>
        </a:spcBef>
        <a:spcAft>
          <a:spcPts val="0"/>
        </a:spcAft>
        <a:buClrTx/>
        <a:buSzTx/>
        <a:buFontTx/>
        <a:buNone/>
        <a:tabLst/>
        <a:defRPr sz="1299" b="0" i="0" u="none" strike="noStrike" cap="none" spc="0" baseline="0">
          <a:solidFill>
            <a:schemeClr val="tx1"/>
          </a:solidFill>
          <a:uFillTx/>
          <a:latin typeface="+mn-lt"/>
          <a:ea typeface="+mn-ea"/>
          <a:cs typeface="+mn-cs"/>
          <a:sym typeface="Helvetica Neue"/>
        </a:defRPr>
      </a:lvl5pPr>
      <a:lvl6pPr marL="0" marR="0" indent="1651229" algn="ctr" defTabSz="421979" rtl="0" latinLnBrk="0">
        <a:lnSpc>
          <a:spcPct val="100000"/>
        </a:lnSpc>
        <a:spcBef>
          <a:spcPts val="0"/>
        </a:spcBef>
        <a:spcAft>
          <a:spcPts val="0"/>
        </a:spcAft>
        <a:buClrTx/>
        <a:buSzTx/>
        <a:buFontTx/>
        <a:buNone/>
        <a:tabLst/>
        <a:defRPr sz="1299" b="0" i="0" u="none" strike="noStrike" cap="none" spc="0" baseline="0">
          <a:solidFill>
            <a:schemeClr val="tx1"/>
          </a:solidFill>
          <a:uFillTx/>
          <a:latin typeface="+mn-lt"/>
          <a:ea typeface="+mn-ea"/>
          <a:cs typeface="+mn-cs"/>
          <a:sym typeface="Helvetica Neue"/>
        </a:defRPr>
      </a:lvl6pPr>
      <a:lvl7pPr marL="0" marR="0" indent="1981474" algn="ctr" defTabSz="421979" rtl="0" latinLnBrk="0">
        <a:lnSpc>
          <a:spcPct val="100000"/>
        </a:lnSpc>
        <a:spcBef>
          <a:spcPts val="0"/>
        </a:spcBef>
        <a:spcAft>
          <a:spcPts val="0"/>
        </a:spcAft>
        <a:buClrTx/>
        <a:buSzTx/>
        <a:buFontTx/>
        <a:buNone/>
        <a:tabLst/>
        <a:defRPr sz="1299" b="0" i="0" u="none" strike="noStrike" cap="none" spc="0" baseline="0">
          <a:solidFill>
            <a:schemeClr val="tx1"/>
          </a:solidFill>
          <a:uFillTx/>
          <a:latin typeface="+mn-lt"/>
          <a:ea typeface="+mn-ea"/>
          <a:cs typeface="+mn-cs"/>
          <a:sym typeface="Helvetica Neue"/>
        </a:defRPr>
      </a:lvl7pPr>
      <a:lvl8pPr marL="0" marR="0" indent="2311721" algn="ctr" defTabSz="421979" rtl="0" latinLnBrk="0">
        <a:lnSpc>
          <a:spcPct val="100000"/>
        </a:lnSpc>
        <a:spcBef>
          <a:spcPts val="0"/>
        </a:spcBef>
        <a:spcAft>
          <a:spcPts val="0"/>
        </a:spcAft>
        <a:buClrTx/>
        <a:buSzTx/>
        <a:buFontTx/>
        <a:buNone/>
        <a:tabLst/>
        <a:defRPr sz="1299" b="0" i="0" u="none" strike="noStrike" cap="none" spc="0" baseline="0">
          <a:solidFill>
            <a:schemeClr val="tx1"/>
          </a:solidFill>
          <a:uFillTx/>
          <a:latin typeface="+mn-lt"/>
          <a:ea typeface="+mn-ea"/>
          <a:cs typeface="+mn-cs"/>
          <a:sym typeface="Helvetica Neue"/>
        </a:defRPr>
      </a:lvl8pPr>
      <a:lvl9pPr marL="0" marR="0" indent="2641966" algn="ctr" defTabSz="421979" rtl="0" latinLnBrk="0">
        <a:lnSpc>
          <a:spcPct val="100000"/>
        </a:lnSpc>
        <a:spcBef>
          <a:spcPts val="0"/>
        </a:spcBef>
        <a:spcAft>
          <a:spcPts val="0"/>
        </a:spcAft>
        <a:buClrTx/>
        <a:buSzTx/>
        <a:buFontTx/>
        <a:buNone/>
        <a:tabLst/>
        <a:defRPr sz="1299"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49"/>
            <a:ext cx="17610138" cy="660380"/>
          </a:xfrm>
          <a:prstGeom prst="rect">
            <a:avLst/>
          </a:prstGeom>
          <a:solidFill>
            <a:srgbClr val="2E6DA4"/>
          </a:solidFill>
          <a:ln w="12700">
            <a:solidFill>
              <a:srgbClr val="2E6DA4"/>
            </a:solidFill>
            <a:prstDash val="solid"/>
          </a:ln>
        </p:spPr>
        <p:txBody>
          <a:bodyPr/>
          <a:lstStyle/>
          <a:p>
            <a:endParaRPr lang="nl-NL" sz="1525"/>
          </a:p>
        </p:txBody>
      </p:sp>
      <p:sp>
        <p:nvSpPr>
          <p:cNvPr id="3" name="Text 1"/>
          <p:cNvSpPr/>
          <p:nvPr/>
        </p:nvSpPr>
        <p:spPr>
          <a:xfrm>
            <a:off x="0" y="149"/>
            <a:ext cx="17610138" cy="660380"/>
          </a:xfrm>
          <a:prstGeom prst="rect">
            <a:avLst/>
          </a:prstGeom>
          <a:noFill/>
          <a:ln/>
        </p:spPr>
        <p:txBody>
          <a:bodyPr wrap="square" rtlCol="0" anchor="ctr"/>
          <a:lstStyle/>
          <a:p>
            <a:pPr algn="ctr"/>
            <a:r>
              <a:rPr lang="en-US" sz="1878" b="1" spc="289" dirty="0">
                <a:solidFill>
                  <a:srgbClr val="FFFFFF"/>
                </a:solidFill>
              </a:rPr>
              <a:t>GEBRUIKERSPROFIEL</a:t>
            </a:r>
            <a:endParaRPr lang="en-US" sz="1878" dirty="0"/>
          </a:p>
        </p:txBody>
      </p:sp>
      <p:sp>
        <p:nvSpPr>
          <p:cNvPr id="4" name="Shape 2"/>
          <p:cNvSpPr/>
          <p:nvPr/>
        </p:nvSpPr>
        <p:spPr>
          <a:xfrm>
            <a:off x="264152" y="792605"/>
            <a:ext cx="8459470" cy="4345301"/>
          </a:xfrm>
          <a:prstGeom prst="rect">
            <a:avLst/>
          </a:prstGeom>
          <a:solidFill>
            <a:srgbClr val="F2F7FC"/>
          </a:solidFill>
          <a:ln w="12700">
            <a:solidFill>
              <a:srgbClr val="C4DCF0"/>
            </a:solidFill>
            <a:prstDash val="solid"/>
          </a:ln>
        </p:spPr>
        <p:txBody>
          <a:bodyPr/>
          <a:lstStyle/>
          <a:p>
            <a:endParaRPr lang="nl-NL" sz="1525" dirty="0"/>
          </a:p>
        </p:txBody>
      </p:sp>
      <p:sp>
        <p:nvSpPr>
          <p:cNvPr id="5" name="Text 3"/>
          <p:cNvSpPr/>
          <p:nvPr/>
        </p:nvSpPr>
        <p:spPr>
          <a:xfrm>
            <a:off x="462266" y="990719"/>
            <a:ext cx="8063242" cy="290567"/>
          </a:xfrm>
          <a:prstGeom prst="rect">
            <a:avLst/>
          </a:prstGeom>
          <a:noFill/>
          <a:ln/>
        </p:spPr>
        <p:txBody>
          <a:bodyPr wrap="square" rtlCol="0" anchor="t"/>
          <a:lstStyle/>
          <a:p>
            <a:r>
              <a:rPr lang="en-US" sz="1444" b="1" dirty="0">
                <a:solidFill>
                  <a:srgbClr val="12263A"/>
                </a:solidFill>
              </a:rPr>
              <a:t>Gebruiker &amp; Context</a:t>
            </a:r>
            <a:endParaRPr lang="en-US" sz="1444" dirty="0"/>
          </a:p>
        </p:txBody>
      </p:sp>
      <p:sp>
        <p:nvSpPr>
          <p:cNvPr id="6" name="Text 4"/>
          <p:cNvSpPr/>
          <p:nvPr/>
        </p:nvSpPr>
        <p:spPr>
          <a:xfrm>
            <a:off x="462266" y="1307702"/>
            <a:ext cx="8063242" cy="224529"/>
          </a:xfrm>
          <a:prstGeom prst="rect">
            <a:avLst/>
          </a:prstGeom>
          <a:noFill/>
          <a:ln/>
        </p:spPr>
        <p:txBody>
          <a:bodyPr wrap="square" rtlCol="0" anchor="t"/>
          <a:lstStyle/>
          <a:p>
            <a:r>
              <a:rPr lang="en-US" sz="1083" i="1" dirty="0">
                <a:solidFill>
                  <a:srgbClr val="5A84A8"/>
                </a:solidFill>
              </a:rPr>
              <a:t>Denk aan het volgende:</a:t>
            </a:r>
            <a:endParaRPr lang="en-US" sz="1083" dirty="0"/>
          </a:p>
        </p:txBody>
      </p:sp>
      <p:sp>
        <p:nvSpPr>
          <p:cNvPr id="7" name="Text 5"/>
          <p:cNvSpPr/>
          <p:nvPr/>
        </p:nvSpPr>
        <p:spPr>
          <a:xfrm>
            <a:off x="528304" y="1545438"/>
            <a:ext cx="7997204" cy="211322"/>
          </a:xfrm>
          <a:prstGeom prst="rect">
            <a:avLst/>
          </a:prstGeom>
          <a:noFill/>
          <a:ln/>
        </p:spPr>
        <p:txBody>
          <a:bodyPr wrap="square" rtlCol="0" anchor="t"/>
          <a:lstStyle/>
          <a:p>
            <a:r>
              <a:rPr lang="en-US" sz="1011" dirty="0">
                <a:solidFill>
                  <a:srgbClr val="5A84A8"/>
                </a:solidFill>
              </a:rPr>
              <a:t>•  Wie is de eindgebruiker? (sporter, coach, medische staf...)</a:t>
            </a:r>
            <a:endParaRPr lang="en-US" sz="1011" dirty="0"/>
          </a:p>
        </p:txBody>
      </p:sp>
      <p:sp>
        <p:nvSpPr>
          <p:cNvPr id="8" name="Text 6"/>
          <p:cNvSpPr/>
          <p:nvPr/>
        </p:nvSpPr>
        <p:spPr>
          <a:xfrm>
            <a:off x="528304" y="1756760"/>
            <a:ext cx="7997204" cy="211322"/>
          </a:xfrm>
          <a:prstGeom prst="rect">
            <a:avLst/>
          </a:prstGeom>
          <a:noFill/>
          <a:ln/>
        </p:spPr>
        <p:txBody>
          <a:bodyPr wrap="square" rtlCol="0" anchor="t"/>
          <a:lstStyle/>
          <a:p>
            <a:r>
              <a:rPr lang="en-US" sz="1011" dirty="0">
                <a:solidFill>
                  <a:srgbClr val="5A84A8"/>
                </a:solidFill>
              </a:rPr>
              <a:t>•  In welke sportcontext speelt dit?</a:t>
            </a:r>
            <a:endParaRPr lang="en-US" sz="1011" dirty="0"/>
          </a:p>
        </p:txBody>
      </p:sp>
      <p:sp>
        <p:nvSpPr>
          <p:cNvPr id="9" name="Text 7"/>
          <p:cNvSpPr/>
          <p:nvPr/>
        </p:nvSpPr>
        <p:spPr>
          <a:xfrm>
            <a:off x="528304" y="1968082"/>
            <a:ext cx="7997204" cy="211322"/>
          </a:xfrm>
          <a:prstGeom prst="rect">
            <a:avLst/>
          </a:prstGeom>
          <a:noFill/>
          <a:ln/>
        </p:spPr>
        <p:txBody>
          <a:bodyPr wrap="square" rtlCol="0" anchor="t"/>
          <a:lstStyle/>
          <a:p>
            <a:r>
              <a:rPr lang="en-US" sz="1011" dirty="0">
                <a:solidFill>
                  <a:srgbClr val="5A84A8"/>
                </a:solidFill>
              </a:rPr>
              <a:t>•  Welke organisatie, club of bond?</a:t>
            </a:r>
            <a:endParaRPr lang="en-US" sz="1011" dirty="0"/>
          </a:p>
        </p:txBody>
      </p:sp>
      <p:sp>
        <p:nvSpPr>
          <p:cNvPr id="10" name="Shape 8"/>
          <p:cNvSpPr/>
          <p:nvPr/>
        </p:nvSpPr>
        <p:spPr>
          <a:xfrm>
            <a:off x="462266" y="2258649"/>
            <a:ext cx="8063242" cy="26415"/>
          </a:xfrm>
          <a:prstGeom prst="rect">
            <a:avLst/>
          </a:prstGeom>
          <a:solidFill>
            <a:srgbClr val="C4DCF0"/>
          </a:solidFill>
          <a:ln w="12700">
            <a:solidFill>
              <a:srgbClr val="C4DCF0"/>
            </a:solidFill>
            <a:prstDash val="solid"/>
          </a:ln>
        </p:spPr>
        <p:txBody>
          <a:bodyPr/>
          <a:lstStyle/>
          <a:p>
            <a:endParaRPr lang="nl-NL" sz="1525"/>
          </a:p>
        </p:txBody>
      </p:sp>
      <p:sp>
        <p:nvSpPr>
          <p:cNvPr id="11" name="Text 9"/>
          <p:cNvSpPr/>
          <p:nvPr/>
        </p:nvSpPr>
        <p:spPr>
          <a:xfrm>
            <a:off x="462266" y="2377517"/>
            <a:ext cx="8063242" cy="2562275"/>
          </a:xfrm>
          <a:prstGeom prst="rect">
            <a:avLst/>
          </a:prstGeom>
          <a:noFill/>
          <a:ln/>
        </p:spPr>
        <p:txBody>
          <a:bodyPr wrap="square" rtlCol="0" anchor="t"/>
          <a:lstStyle/>
          <a:p>
            <a:r>
              <a:rPr lang="nl-NL" sz="1200" b="1" dirty="0"/>
              <a:t>Wie:</a:t>
            </a:r>
            <a:r>
              <a:rPr lang="nl-NL" sz="1200" dirty="0"/>
              <a:t> Talentcoach in een RTC-talentgroep, judocoach bij een talentteam, zwemcoach in een opleidingsploeg. Coacht 10-20 sporters richting (sub)topniveau. Meestal in de beginfase van monitoring of werkt aan verbetering van een bestaande aanpak.</a:t>
            </a:r>
          </a:p>
          <a:p>
            <a:r>
              <a:rPr lang="nl-NL" sz="1200" b="1" dirty="0"/>
              <a:t>Heeft wél:</a:t>
            </a:r>
            <a:r>
              <a:rPr lang="nl-NL" sz="1200" dirty="0"/>
              <a:t> domeinkennis, motivatie, een aanzet tot monitoring (</a:t>
            </a:r>
            <a:r>
              <a:rPr lang="nl-NL" sz="1200" dirty="0" err="1"/>
              <a:t>Smartabase</a:t>
            </a:r>
            <a:r>
              <a:rPr lang="nl-NL" sz="1200" dirty="0"/>
              <a:t>, SDV, vragenlijsten), een ploeg sporters die invult.</a:t>
            </a:r>
          </a:p>
          <a:p>
            <a:r>
              <a:rPr lang="nl-NL" sz="1200" b="1" dirty="0"/>
              <a:t>Heeft niét:</a:t>
            </a:r>
            <a:r>
              <a:rPr lang="nl-NL" sz="1200" dirty="0"/>
              <a:t> tijd, data-analysevaardigheden, een sport-data-analist of sportwetenschapper op de gang, een sparringpartner.</a:t>
            </a:r>
          </a:p>
          <a:p>
            <a:r>
              <a:rPr lang="nl-NL" sz="1200" b="1" dirty="0"/>
              <a:t>Sportcontext:</a:t>
            </a:r>
            <a:r>
              <a:rPr lang="nl-NL" sz="1200" dirty="0"/>
              <a:t> </a:t>
            </a:r>
            <a:r>
              <a:rPr lang="nl-NL" sz="1200" dirty="0" err="1"/>
              <a:t>RTC's</a:t>
            </a:r>
            <a:r>
              <a:rPr lang="nl-NL" sz="1200" dirty="0"/>
              <a:t>, talentploegen, opleidingsteams van bonden — het brede veld onder de absolute top waar serieus aan talentontwikkeling wordt gewerkt zonder de ondersteuningsinfrastructuur van NOC*NSF-niveau. Wij overschatten doorgaans zowel de kennis als de ondersteuning op dit niveau.</a:t>
            </a:r>
          </a:p>
          <a:p>
            <a:r>
              <a:rPr lang="nl-NL" sz="1200" b="1" dirty="0"/>
              <a:t>Organisaties:</a:t>
            </a:r>
            <a:r>
              <a:rPr lang="nl-NL" sz="1200" dirty="0"/>
              <a:t> </a:t>
            </a:r>
            <a:r>
              <a:rPr lang="nl-NL" sz="1200" dirty="0" err="1"/>
              <a:t>RTC's</a:t>
            </a:r>
            <a:r>
              <a:rPr lang="nl-NL" sz="1200" dirty="0"/>
              <a:t>, sportbonden (KNSB, JBN, KNZB e.d.), opleidingsteams van clubs. In onze context: Hanzehogeschool via Sportmonitor op Maat / Coach in Control / het Europese </a:t>
            </a:r>
            <a:r>
              <a:rPr lang="nl-NL" sz="1200" dirty="0" err="1"/>
              <a:t>CoachWell</a:t>
            </a:r>
            <a:r>
              <a:rPr lang="nl-NL" sz="1200" dirty="0"/>
              <a:t>-traject.</a:t>
            </a:r>
          </a:p>
          <a:p>
            <a:pPr lvl="1"/>
            <a:endParaRPr lang="nl-NL" sz="1200" dirty="0">
              <a:solidFill>
                <a:schemeClr val="bg2"/>
              </a:solidFill>
            </a:endParaRPr>
          </a:p>
          <a:p>
            <a:endParaRPr lang="en-US" sz="1200" dirty="0">
              <a:solidFill>
                <a:schemeClr val="bg2"/>
              </a:solidFill>
            </a:endParaRPr>
          </a:p>
        </p:txBody>
      </p:sp>
      <p:sp>
        <p:nvSpPr>
          <p:cNvPr id="12" name="Shape 10"/>
          <p:cNvSpPr/>
          <p:nvPr/>
        </p:nvSpPr>
        <p:spPr>
          <a:xfrm>
            <a:off x="8882113" y="792605"/>
            <a:ext cx="8459470" cy="4345301"/>
          </a:xfrm>
          <a:prstGeom prst="rect">
            <a:avLst/>
          </a:prstGeom>
          <a:solidFill>
            <a:srgbClr val="F2F7FC"/>
          </a:solidFill>
          <a:ln w="12700">
            <a:solidFill>
              <a:srgbClr val="C4DCF0"/>
            </a:solidFill>
            <a:prstDash val="solid"/>
          </a:ln>
        </p:spPr>
        <p:txBody>
          <a:bodyPr/>
          <a:lstStyle/>
          <a:p>
            <a:endParaRPr lang="nl-NL" sz="1525" dirty="0"/>
          </a:p>
        </p:txBody>
      </p:sp>
      <p:sp>
        <p:nvSpPr>
          <p:cNvPr id="13" name="Text 11"/>
          <p:cNvSpPr/>
          <p:nvPr/>
        </p:nvSpPr>
        <p:spPr>
          <a:xfrm>
            <a:off x="9080227" y="990719"/>
            <a:ext cx="8063242" cy="290567"/>
          </a:xfrm>
          <a:prstGeom prst="rect">
            <a:avLst/>
          </a:prstGeom>
          <a:noFill/>
          <a:ln/>
        </p:spPr>
        <p:txBody>
          <a:bodyPr wrap="square" rtlCol="0" anchor="t"/>
          <a:lstStyle/>
          <a:p>
            <a:r>
              <a:rPr lang="en-US" sz="1444" b="1" dirty="0">
                <a:solidFill>
                  <a:srgbClr val="12263A"/>
                </a:solidFill>
              </a:rPr>
              <a:t>Taken &amp; Doelen</a:t>
            </a:r>
            <a:endParaRPr lang="en-US" sz="1444" dirty="0"/>
          </a:p>
        </p:txBody>
      </p:sp>
      <p:sp>
        <p:nvSpPr>
          <p:cNvPr id="14" name="Text 12"/>
          <p:cNvSpPr/>
          <p:nvPr/>
        </p:nvSpPr>
        <p:spPr>
          <a:xfrm>
            <a:off x="9080227" y="1307702"/>
            <a:ext cx="8063242" cy="224529"/>
          </a:xfrm>
          <a:prstGeom prst="rect">
            <a:avLst/>
          </a:prstGeom>
          <a:noFill/>
          <a:ln/>
        </p:spPr>
        <p:txBody>
          <a:bodyPr wrap="square" rtlCol="0" anchor="t"/>
          <a:lstStyle/>
          <a:p>
            <a:r>
              <a:rPr lang="en-US" sz="1083" i="1" dirty="0">
                <a:solidFill>
                  <a:srgbClr val="5A84A8"/>
                </a:solidFill>
              </a:rPr>
              <a:t>Denk aan het volgende:</a:t>
            </a:r>
            <a:endParaRPr lang="en-US" sz="1083" dirty="0"/>
          </a:p>
        </p:txBody>
      </p:sp>
      <p:sp>
        <p:nvSpPr>
          <p:cNvPr id="15" name="Text 13"/>
          <p:cNvSpPr/>
          <p:nvPr/>
        </p:nvSpPr>
        <p:spPr>
          <a:xfrm>
            <a:off x="9146265" y="1545438"/>
            <a:ext cx="7997204" cy="211322"/>
          </a:xfrm>
          <a:prstGeom prst="rect">
            <a:avLst/>
          </a:prstGeom>
          <a:noFill/>
          <a:ln/>
        </p:spPr>
        <p:txBody>
          <a:bodyPr wrap="square" rtlCol="0" anchor="t"/>
          <a:lstStyle/>
          <a:p>
            <a:r>
              <a:rPr lang="en-US" sz="1011" dirty="0">
                <a:solidFill>
                  <a:srgbClr val="5A84A8"/>
                </a:solidFill>
              </a:rPr>
              <a:t>•  Wat probeert de gebruiker te bereiken?</a:t>
            </a:r>
            <a:endParaRPr lang="en-US" sz="1011" dirty="0"/>
          </a:p>
        </p:txBody>
      </p:sp>
      <p:sp>
        <p:nvSpPr>
          <p:cNvPr id="16" name="Text 14"/>
          <p:cNvSpPr/>
          <p:nvPr/>
        </p:nvSpPr>
        <p:spPr>
          <a:xfrm>
            <a:off x="9146265" y="1756760"/>
            <a:ext cx="7997204" cy="211322"/>
          </a:xfrm>
          <a:prstGeom prst="rect">
            <a:avLst/>
          </a:prstGeom>
          <a:noFill/>
          <a:ln/>
        </p:spPr>
        <p:txBody>
          <a:bodyPr wrap="square" rtlCol="0" anchor="t"/>
          <a:lstStyle/>
          <a:p>
            <a:r>
              <a:rPr lang="en-US" sz="1011" dirty="0">
                <a:solidFill>
                  <a:srgbClr val="5A84A8"/>
                </a:solidFill>
              </a:rPr>
              <a:t>•  Welke taak wil hij/zij beter of sneller uitvoeren?</a:t>
            </a:r>
            <a:endParaRPr lang="en-US" sz="1011" dirty="0"/>
          </a:p>
        </p:txBody>
      </p:sp>
      <p:sp>
        <p:nvSpPr>
          <p:cNvPr id="17" name="Text 15"/>
          <p:cNvSpPr/>
          <p:nvPr/>
        </p:nvSpPr>
        <p:spPr>
          <a:xfrm>
            <a:off x="9146265" y="1968082"/>
            <a:ext cx="7997204" cy="211322"/>
          </a:xfrm>
          <a:prstGeom prst="rect">
            <a:avLst/>
          </a:prstGeom>
          <a:noFill/>
          <a:ln/>
        </p:spPr>
        <p:txBody>
          <a:bodyPr wrap="square" rtlCol="0" anchor="t"/>
          <a:lstStyle/>
          <a:p>
            <a:r>
              <a:rPr lang="en-US" sz="1011" dirty="0">
                <a:solidFill>
                  <a:srgbClr val="5A84A8"/>
                </a:solidFill>
              </a:rPr>
              <a:t>•  Wat is de gewenste uitkomst?</a:t>
            </a:r>
            <a:endParaRPr lang="en-US" sz="1011" dirty="0"/>
          </a:p>
        </p:txBody>
      </p:sp>
      <p:sp>
        <p:nvSpPr>
          <p:cNvPr id="18" name="Shape 16"/>
          <p:cNvSpPr/>
          <p:nvPr/>
        </p:nvSpPr>
        <p:spPr>
          <a:xfrm>
            <a:off x="9080227" y="2258649"/>
            <a:ext cx="8063242" cy="26415"/>
          </a:xfrm>
          <a:prstGeom prst="rect">
            <a:avLst/>
          </a:prstGeom>
          <a:solidFill>
            <a:srgbClr val="C4DCF0"/>
          </a:solidFill>
          <a:ln w="12700">
            <a:solidFill>
              <a:srgbClr val="C4DCF0"/>
            </a:solidFill>
            <a:prstDash val="solid"/>
          </a:ln>
        </p:spPr>
        <p:txBody>
          <a:bodyPr/>
          <a:lstStyle/>
          <a:p>
            <a:endParaRPr lang="nl-NL" sz="1525"/>
          </a:p>
        </p:txBody>
      </p:sp>
      <p:sp>
        <p:nvSpPr>
          <p:cNvPr id="19" name="Text 17"/>
          <p:cNvSpPr/>
          <p:nvPr/>
        </p:nvSpPr>
        <p:spPr>
          <a:xfrm>
            <a:off x="9080227" y="2377517"/>
            <a:ext cx="8063242" cy="2562275"/>
          </a:xfrm>
          <a:prstGeom prst="rect">
            <a:avLst/>
          </a:prstGeom>
          <a:noFill/>
          <a:ln/>
        </p:spPr>
        <p:txBody>
          <a:bodyPr wrap="square" rtlCol="0" anchor="t"/>
          <a:lstStyle/>
          <a:p>
            <a:endParaRPr lang="en-US" sz="1228" dirty="0"/>
          </a:p>
        </p:txBody>
      </p:sp>
      <p:sp>
        <p:nvSpPr>
          <p:cNvPr id="20" name="Shape 18"/>
          <p:cNvSpPr/>
          <p:nvPr/>
        </p:nvSpPr>
        <p:spPr>
          <a:xfrm>
            <a:off x="264152" y="5296398"/>
            <a:ext cx="8459470" cy="4345301"/>
          </a:xfrm>
          <a:prstGeom prst="rect">
            <a:avLst/>
          </a:prstGeom>
          <a:solidFill>
            <a:srgbClr val="F2F7FC"/>
          </a:solidFill>
          <a:ln w="12700">
            <a:solidFill>
              <a:srgbClr val="C4DCF0"/>
            </a:solidFill>
            <a:prstDash val="solid"/>
          </a:ln>
        </p:spPr>
        <p:txBody>
          <a:bodyPr/>
          <a:lstStyle/>
          <a:p>
            <a:endParaRPr lang="nl-NL" sz="1525"/>
          </a:p>
        </p:txBody>
      </p:sp>
      <p:sp>
        <p:nvSpPr>
          <p:cNvPr id="21" name="Text 19"/>
          <p:cNvSpPr/>
          <p:nvPr/>
        </p:nvSpPr>
        <p:spPr>
          <a:xfrm>
            <a:off x="462266" y="5494512"/>
            <a:ext cx="8063242" cy="290567"/>
          </a:xfrm>
          <a:prstGeom prst="rect">
            <a:avLst/>
          </a:prstGeom>
          <a:noFill/>
          <a:ln/>
        </p:spPr>
        <p:txBody>
          <a:bodyPr wrap="square" rtlCol="0" anchor="t"/>
          <a:lstStyle/>
          <a:p>
            <a:r>
              <a:rPr lang="en-US" sz="1444" b="1" dirty="0">
                <a:solidFill>
                  <a:srgbClr val="12263A"/>
                </a:solidFill>
              </a:rPr>
              <a:t>Huidig Proces</a:t>
            </a:r>
            <a:endParaRPr lang="en-US" sz="1444" dirty="0"/>
          </a:p>
        </p:txBody>
      </p:sp>
      <p:sp>
        <p:nvSpPr>
          <p:cNvPr id="22" name="Text 20"/>
          <p:cNvSpPr/>
          <p:nvPr/>
        </p:nvSpPr>
        <p:spPr>
          <a:xfrm>
            <a:off x="462266" y="5811494"/>
            <a:ext cx="8063242" cy="224529"/>
          </a:xfrm>
          <a:prstGeom prst="rect">
            <a:avLst/>
          </a:prstGeom>
          <a:noFill/>
          <a:ln/>
        </p:spPr>
        <p:txBody>
          <a:bodyPr wrap="square" rtlCol="0" anchor="t"/>
          <a:lstStyle/>
          <a:p>
            <a:r>
              <a:rPr lang="en-US" sz="1083" i="1" dirty="0">
                <a:solidFill>
                  <a:srgbClr val="5A84A8"/>
                </a:solidFill>
              </a:rPr>
              <a:t>Denk aan het volgende:</a:t>
            </a:r>
            <a:endParaRPr lang="en-US" sz="1083" dirty="0"/>
          </a:p>
        </p:txBody>
      </p:sp>
      <p:sp>
        <p:nvSpPr>
          <p:cNvPr id="23" name="Text 21"/>
          <p:cNvSpPr/>
          <p:nvPr/>
        </p:nvSpPr>
        <p:spPr>
          <a:xfrm>
            <a:off x="528304" y="6049231"/>
            <a:ext cx="7997204" cy="211322"/>
          </a:xfrm>
          <a:prstGeom prst="rect">
            <a:avLst/>
          </a:prstGeom>
          <a:noFill/>
          <a:ln/>
        </p:spPr>
        <p:txBody>
          <a:bodyPr wrap="square" rtlCol="0" anchor="t"/>
          <a:lstStyle/>
          <a:p>
            <a:r>
              <a:rPr lang="en-US" sz="1011" dirty="0">
                <a:solidFill>
                  <a:srgbClr val="5A84A8"/>
                </a:solidFill>
              </a:rPr>
              <a:t>•  Hoe doet de gebruiker dit nu?</a:t>
            </a:r>
            <a:endParaRPr lang="en-US" sz="1011" dirty="0"/>
          </a:p>
        </p:txBody>
      </p:sp>
      <p:sp>
        <p:nvSpPr>
          <p:cNvPr id="24" name="Text 22"/>
          <p:cNvSpPr/>
          <p:nvPr/>
        </p:nvSpPr>
        <p:spPr>
          <a:xfrm>
            <a:off x="528304" y="6260553"/>
            <a:ext cx="7997204" cy="211322"/>
          </a:xfrm>
          <a:prstGeom prst="rect">
            <a:avLst/>
          </a:prstGeom>
          <a:noFill/>
          <a:ln/>
        </p:spPr>
        <p:txBody>
          <a:bodyPr wrap="square" rtlCol="0" anchor="t"/>
          <a:lstStyle/>
          <a:p>
            <a:r>
              <a:rPr lang="en-US" sz="1011" dirty="0">
                <a:solidFill>
                  <a:srgbClr val="5A84A8"/>
                </a:solidFill>
              </a:rPr>
              <a:t>•  Welke stappen doorloopt hij/zij?</a:t>
            </a:r>
            <a:endParaRPr lang="en-US" sz="1011" dirty="0"/>
          </a:p>
        </p:txBody>
      </p:sp>
      <p:sp>
        <p:nvSpPr>
          <p:cNvPr id="25" name="Text 23"/>
          <p:cNvSpPr/>
          <p:nvPr/>
        </p:nvSpPr>
        <p:spPr>
          <a:xfrm>
            <a:off x="528304" y="6471874"/>
            <a:ext cx="7997204" cy="211322"/>
          </a:xfrm>
          <a:prstGeom prst="rect">
            <a:avLst/>
          </a:prstGeom>
          <a:noFill/>
          <a:ln/>
        </p:spPr>
        <p:txBody>
          <a:bodyPr wrap="square" rtlCol="0" anchor="t"/>
          <a:lstStyle/>
          <a:p>
            <a:r>
              <a:rPr lang="en-US" sz="1011" dirty="0">
                <a:solidFill>
                  <a:srgbClr val="5A84A8"/>
                </a:solidFill>
              </a:rPr>
              <a:t>•  Welke tools of systemen gebruikt hij/zij?</a:t>
            </a:r>
            <a:endParaRPr lang="en-US" sz="1011" dirty="0"/>
          </a:p>
        </p:txBody>
      </p:sp>
      <p:sp>
        <p:nvSpPr>
          <p:cNvPr id="26" name="Shape 24"/>
          <p:cNvSpPr/>
          <p:nvPr/>
        </p:nvSpPr>
        <p:spPr>
          <a:xfrm>
            <a:off x="462266" y="6762442"/>
            <a:ext cx="8063242" cy="26415"/>
          </a:xfrm>
          <a:prstGeom prst="rect">
            <a:avLst/>
          </a:prstGeom>
          <a:solidFill>
            <a:srgbClr val="C4DCF0"/>
          </a:solidFill>
          <a:ln w="12700">
            <a:solidFill>
              <a:srgbClr val="C4DCF0"/>
            </a:solidFill>
            <a:prstDash val="solid"/>
          </a:ln>
        </p:spPr>
        <p:txBody>
          <a:bodyPr/>
          <a:lstStyle/>
          <a:p>
            <a:endParaRPr lang="nl-NL" sz="1525"/>
          </a:p>
        </p:txBody>
      </p:sp>
      <p:sp>
        <p:nvSpPr>
          <p:cNvPr id="27" name="Text 25"/>
          <p:cNvSpPr/>
          <p:nvPr/>
        </p:nvSpPr>
        <p:spPr>
          <a:xfrm>
            <a:off x="462266" y="6881310"/>
            <a:ext cx="8063242" cy="2562275"/>
          </a:xfrm>
          <a:prstGeom prst="rect">
            <a:avLst/>
          </a:prstGeom>
          <a:noFill/>
          <a:ln/>
        </p:spPr>
        <p:txBody>
          <a:bodyPr wrap="square" rtlCol="0" anchor="t"/>
          <a:lstStyle/>
          <a:p>
            <a:r>
              <a:rPr lang="nl-NL" sz="1400" dirty="0"/>
              <a:t>Drie patronen die door elkaar lopen:</a:t>
            </a:r>
          </a:p>
          <a:p>
            <a:r>
              <a:rPr lang="nl-NL" sz="1400" b="1" dirty="0"/>
              <a:t>Beslissen op gevoel.</a:t>
            </a:r>
            <a:r>
              <a:rPr lang="nl-NL" sz="1400" dirty="0"/>
              <a:t> Op basis van wat hij in de training zag — zonder de monitoringdata te raadplegen, ook al ligt die er.</a:t>
            </a:r>
          </a:p>
          <a:p>
            <a:r>
              <a:rPr lang="nl-NL" sz="1400" b="1" dirty="0"/>
              <a:t>In de data duiken zonder kompas.</a:t>
            </a:r>
            <a:r>
              <a:rPr lang="nl-NL" sz="1400" dirty="0"/>
              <a:t> Coach opent het dashboard, scrolt door rijen getallen, weet niet waar hij naar moet kijken. Signaal of ruis?</a:t>
            </a:r>
          </a:p>
          <a:p>
            <a:r>
              <a:rPr lang="nl-NL" sz="1400" b="1" dirty="0"/>
              <a:t>Data zien, niet kunnen interpreteren.</a:t>
            </a:r>
            <a:r>
              <a:rPr lang="nl-NL" sz="1400" dirty="0"/>
              <a:t> Welzijnsscore daalt, RPE loopt op — wat doe je ermee? Vraagt het aan de sporter, krijgt schouderophalen, sterft in stilte.</a:t>
            </a:r>
          </a:p>
          <a:p>
            <a:r>
              <a:rPr lang="nl-NL" sz="1400" b="1" dirty="0"/>
              <a:t>Tools nu in gebruik:</a:t>
            </a:r>
            <a:r>
              <a:rPr lang="nl-NL" sz="1400" dirty="0"/>
              <a:t> </a:t>
            </a:r>
            <a:r>
              <a:rPr lang="nl-NL" sz="1400" dirty="0" err="1"/>
              <a:t>Smartabase</a:t>
            </a:r>
            <a:r>
              <a:rPr lang="nl-NL" sz="1400" dirty="0"/>
              <a:t> (</a:t>
            </a:r>
            <a:r>
              <a:rPr lang="nl-NL" sz="1400" dirty="0" err="1"/>
              <a:t>Teamworks</a:t>
            </a:r>
            <a:r>
              <a:rPr lang="nl-NL" sz="1400" dirty="0"/>
              <a:t>), </a:t>
            </a:r>
            <a:r>
              <a:rPr lang="nl-NL" sz="1400" dirty="0" err="1"/>
              <a:t>SportDataValley</a:t>
            </a:r>
            <a:r>
              <a:rPr lang="nl-NL" sz="1400" dirty="0"/>
              <a:t>, Excel-sheets, vragenlijst-platforms, trainingslogboeken, soms een coach-app van de bond.</a:t>
            </a:r>
          </a:p>
          <a:p>
            <a:r>
              <a:rPr lang="nl-NL" sz="1400" b="1" dirty="0"/>
              <a:t>Wat ontbreekt:</a:t>
            </a:r>
            <a:r>
              <a:rPr lang="nl-NL" sz="1400" dirty="0"/>
              <a:t> het denkmoment. Geen data-analist, geen sportwetenschapper, geen sparringpartner — niet op het RTC, niet bij de bond, niet bij de club.</a:t>
            </a:r>
          </a:p>
          <a:p>
            <a:endParaRPr lang="nl-NL" sz="1400" dirty="0"/>
          </a:p>
          <a:p>
            <a:endParaRPr lang="en-US" sz="1228" dirty="0">
              <a:solidFill>
                <a:srgbClr val="AAAAAA"/>
              </a:solidFill>
            </a:endParaRPr>
          </a:p>
          <a:p>
            <a:endParaRPr lang="en-US" sz="1228" dirty="0"/>
          </a:p>
        </p:txBody>
      </p:sp>
      <p:sp>
        <p:nvSpPr>
          <p:cNvPr id="28" name="Shape 26"/>
          <p:cNvSpPr/>
          <p:nvPr/>
        </p:nvSpPr>
        <p:spPr>
          <a:xfrm>
            <a:off x="8882113" y="5296398"/>
            <a:ext cx="8459470" cy="4345301"/>
          </a:xfrm>
          <a:prstGeom prst="rect">
            <a:avLst/>
          </a:prstGeom>
          <a:solidFill>
            <a:srgbClr val="F2F7FC"/>
          </a:solidFill>
          <a:ln w="12700">
            <a:solidFill>
              <a:srgbClr val="C4DCF0"/>
            </a:solidFill>
            <a:prstDash val="solid"/>
          </a:ln>
        </p:spPr>
        <p:txBody>
          <a:bodyPr/>
          <a:lstStyle/>
          <a:p>
            <a:endParaRPr lang="nl-NL" sz="1525"/>
          </a:p>
        </p:txBody>
      </p:sp>
      <p:sp>
        <p:nvSpPr>
          <p:cNvPr id="29" name="Text 27"/>
          <p:cNvSpPr/>
          <p:nvPr/>
        </p:nvSpPr>
        <p:spPr>
          <a:xfrm>
            <a:off x="9080227" y="5494512"/>
            <a:ext cx="8063242" cy="290567"/>
          </a:xfrm>
          <a:prstGeom prst="rect">
            <a:avLst/>
          </a:prstGeom>
          <a:noFill/>
          <a:ln/>
        </p:spPr>
        <p:txBody>
          <a:bodyPr wrap="square" rtlCol="0" anchor="t"/>
          <a:lstStyle/>
          <a:p>
            <a:r>
              <a:rPr lang="en-US" sz="1444" b="1" dirty="0">
                <a:solidFill>
                  <a:srgbClr val="12263A"/>
                </a:solidFill>
              </a:rPr>
              <a:t>Pijnpunten &amp; Frustraties</a:t>
            </a:r>
            <a:endParaRPr lang="en-US" sz="1444" dirty="0"/>
          </a:p>
        </p:txBody>
      </p:sp>
      <p:sp>
        <p:nvSpPr>
          <p:cNvPr id="30" name="Text 28"/>
          <p:cNvSpPr/>
          <p:nvPr/>
        </p:nvSpPr>
        <p:spPr>
          <a:xfrm>
            <a:off x="9080227" y="5811494"/>
            <a:ext cx="8063242" cy="224529"/>
          </a:xfrm>
          <a:prstGeom prst="rect">
            <a:avLst/>
          </a:prstGeom>
          <a:noFill/>
          <a:ln/>
        </p:spPr>
        <p:txBody>
          <a:bodyPr wrap="square" rtlCol="0" anchor="t"/>
          <a:lstStyle/>
          <a:p>
            <a:r>
              <a:rPr lang="en-US" sz="1083" i="1" dirty="0">
                <a:solidFill>
                  <a:srgbClr val="5A84A8"/>
                </a:solidFill>
              </a:rPr>
              <a:t>Denk aan het volgende:</a:t>
            </a:r>
            <a:endParaRPr lang="en-US" sz="1083" dirty="0"/>
          </a:p>
        </p:txBody>
      </p:sp>
      <p:sp>
        <p:nvSpPr>
          <p:cNvPr id="31" name="Text 29"/>
          <p:cNvSpPr/>
          <p:nvPr/>
        </p:nvSpPr>
        <p:spPr>
          <a:xfrm>
            <a:off x="9146265" y="6049231"/>
            <a:ext cx="7997204" cy="211322"/>
          </a:xfrm>
          <a:prstGeom prst="rect">
            <a:avLst/>
          </a:prstGeom>
          <a:noFill/>
          <a:ln/>
        </p:spPr>
        <p:txBody>
          <a:bodyPr wrap="square" rtlCol="0" anchor="t"/>
          <a:lstStyle/>
          <a:p>
            <a:r>
              <a:rPr lang="en-US" sz="1011" dirty="0">
                <a:solidFill>
                  <a:srgbClr val="5A84A8"/>
                </a:solidFill>
              </a:rPr>
              <a:t>•  Wat gaat er mis of is inefficient?</a:t>
            </a:r>
            <a:endParaRPr lang="en-US" sz="1011" dirty="0"/>
          </a:p>
        </p:txBody>
      </p:sp>
      <p:sp>
        <p:nvSpPr>
          <p:cNvPr id="32" name="Text 30"/>
          <p:cNvSpPr/>
          <p:nvPr/>
        </p:nvSpPr>
        <p:spPr>
          <a:xfrm>
            <a:off x="9146265" y="6260553"/>
            <a:ext cx="7997204" cy="211322"/>
          </a:xfrm>
          <a:prstGeom prst="rect">
            <a:avLst/>
          </a:prstGeom>
          <a:noFill/>
          <a:ln/>
        </p:spPr>
        <p:txBody>
          <a:bodyPr wrap="square" rtlCol="0" anchor="t"/>
          <a:lstStyle/>
          <a:p>
            <a:r>
              <a:rPr lang="en-US" sz="1011" dirty="0">
                <a:solidFill>
                  <a:srgbClr val="5A84A8"/>
                </a:solidFill>
              </a:rPr>
              <a:t>•  Wat kost te veel tijd, energie of geld?</a:t>
            </a:r>
            <a:endParaRPr lang="en-US" sz="1011" dirty="0"/>
          </a:p>
        </p:txBody>
      </p:sp>
      <p:sp>
        <p:nvSpPr>
          <p:cNvPr id="33" name="Text 31"/>
          <p:cNvSpPr/>
          <p:nvPr/>
        </p:nvSpPr>
        <p:spPr>
          <a:xfrm>
            <a:off x="9146265" y="6471874"/>
            <a:ext cx="7997204" cy="211322"/>
          </a:xfrm>
          <a:prstGeom prst="rect">
            <a:avLst/>
          </a:prstGeom>
          <a:noFill/>
          <a:ln/>
        </p:spPr>
        <p:txBody>
          <a:bodyPr wrap="square" rtlCol="0" anchor="t"/>
          <a:lstStyle/>
          <a:p>
            <a:r>
              <a:rPr lang="en-US" sz="1011" dirty="0">
                <a:solidFill>
                  <a:srgbClr val="5A84A8"/>
                </a:solidFill>
              </a:rPr>
              <a:t>•  Wat moet er veranderen voor de gebruiker?</a:t>
            </a:r>
            <a:endParaRPr lang="en-US" sz="1011" dirty="0"/>
          </a:p>
        </p:txBody>
      </p:sp>
      <p:sp>
        <p:nvSpPr>
          <p:cNvPr id="34" name="Shape 32"/>
          <p:cNvSpPr/>
          <p:nvPr/>
        </p:nvSpPr>
        <p:spPr>
          <a:xfrm>
            <a:off x="9080227" y="6762442"/>
            <a:ext cx="8063242" cy="26415"/>
          </a:xfrm>
          <a:prstGeom prst="rect">
            <a:avLst/>
          </a:prstGeom>
          <a:solidFill>
            <a:srgbClr val="C4DCF0"/>
          </a:solidFill>
          <a:ln w="12700">
            <a:solidFill>
              <a:srgbClr val="C4DCF0"/>
            </a:solidFill>
            <a:prstDash val="solid"/>
          </a:ln>
        </p:spPr>
        <p:txBody>
          <a:bodyPr/>
          <a:lstStyle/>
          <a:p>
            <a:endParaRPr lang="nl-NL" sz="1525"/>
          </a:p>
        </p:txBody>
      </p:sp>
      <p:sp>
        <p:nvSpPr>
          <p:cNvPr id="35" name="Text 33"/>
          <p:cNvSpPr/>
          <p:nvPr/>
        </p:nvSpPr>
        <p:spPr>
          <a:xfrm>
            <a:off x="9080227" y="6881310"/>
            <a:ext cx="8063242" cy="2562275"/>
          </a:xfrm>
          <a:prstGeom prst="rect">
            <a:avLst/>
          </a:prstGeom>
          <a:noFill/>
          <a:ln/>
        </p:spPr>
        <p:txBody>
          <a:bodyPr wrap="square" rtlCol="0" anchor="t"/>
          <a:lstStyle/>
          <a:p>
            <a:r>
              <a:rPr lang="nl-NL" sz="1400" b="1" dirty="0"/>
              <a:t>Wat gaat er mis:</a:t>
            </a:r>
            <a:r>
              <a:rPr lang="nl-NL" sz="1400" dirty="0"/>
              <a:t> sporter vult dagelijks in en krijgt nooit terugkoppeling — dat ondermijnt de invul-bereidheid. Coach voelt dat hij iets mist maar weet niet wat. Beslissingen die op data hadden gekund vallen op onderbuik. Monitoring wordt verplicht nummer.</a:t>
            </a:r>
          </a:p>
          <a:p>
            <a:r>
              <a:rPr lang="nl-NL" sz="1400" b="1" dirty="0"/>
              <a:t>Wat kost te veel:</a:t>
            </a:r>
            <a:r>
              <a:rPr lang="nl-NL" sz="1400" dirty="0"/>
              <a:t> een uur 's avonds door cijfers ploegen waarvan de relevantie onduidelijk is. Cognitieve belasting van een hele groep individueel willen volgen. Frustratie van "dit zou me moeten helpen, het kost me alleen tijd".</a:t>
            </a:r>
          </a:p>
          <a:p>
            <a:r>
              <a:rPr lang="nl-NL" sz="1400" b="1" dirty="0"/>
              <a:t>Wat moet veranderen:</a:t>
            </a:r>
            <a:r>
              <a:rPr lang="nl-NL" sz="1400" dirty="0"/>
              <a:t> een laagdrempelige sparringpartner. De impliciete aanname dat "er een goed antwoord moet zijn" moet eraf — soms is "nog niet weten" het beste antwoord. En het gesprek tussen coach en sporter moet weer gevoed worden door wat er in de monitoring zichtbaar is.</a:t>
            </a:r>
          </a:p>
          <a:p>
            <a:endParaRPr lang="en-US" sz="1228" dirty="0">
              <a:solidFill>
                <a:srgbClr val="AAAAAA"/>
              </a:solidFill>
            </a:endParaRPr>
          </a:p>
          <a:p>
            <a:endParaRPr lang="en-US" sz="1228" dirty="0"/>
          </a:p>
        </p:txBody>
      </p:sp>
      <p:sp>
        <p:nvSpPr>
          <p:cNvPr id="36" name="Text 25">
            <a:extLst>
              <a:ext uri="{FF2B5EF4-FFF2-40B4-BE49-F238E27FC236}">
                <a16:creationId xmlns:a16="http://schemas.microsoft.com/office/drawing/2014/main" id="{4587174A-DFAD-79AD-FC1B-6CBF1CDBCAB5}"/>
              </a:ext>
            </a:extLst>
          </p:cNvPr>
          <p:cNvSpPr/>
          <p:nvPr/>
        </p:nvSpPr>
        <p:spPr>
          <a:xfrm>
            <a:off x="9080227" y="2370913"/>
            <a:ext cx="8063242" cy="2562275"/>
          </a:xfrm>
          <a:prstGeom prst="rect">
            <a:avLst/>
          </a:prstGeom>
          <a:noFill/>
          <a:ln/>
        </p:spPr>
        <p:txBody>
          <a:bodyPr wrap="square" rtlCol="0" anchor="t"/>
          <a:lstStyle/>
          <a:p>
            <a:r>
              <a:rPr lang="nl-NL" sz="1400" b="1" dirty="0"/>
              <a:t>Wat probeert de coach te bereiken?</a:t>
            </a:r>
            <a:r>
              <a:rPr lang="nl-NL" sz="1400" dirty="0"/>
              <a:t> Voor iedere sporter in zijn groep tot betere beslissingen komen over training, planning en begeleiding — passend bij déze persoon, déze week.</a:t>
            </a:r>
          </a:p>
          <a:p>
            <a:r>
              <a:rPr lang="nl-NL" sz="1400" b="1" dirty="0"/>
              <a:t>Welke taak beter uitvoeren?</a:t>
            </a:r>
            <a:r>
              <a:rPr lang="nl-NL" sz="1400" dirty="0"/>
              <a:t> Monitoringdata daadwerkelijk gebruiken in zijn coachpraktijk — als informatie die het gesprek met de sporter en zijn eigen besluitvorming voedt. Vooral op trainingsbelasting, welzijn en gezondheid: de sporter als persoon, niet alleen sporttechnisch.</a:t>
            </a:r>
          </a:p>
          <a:p>
            <a:r>
              <a:rPr lang="nl-NL" sz="1400" b="1" dirty="0"/>
              <a:t>Gewenste uitkomst:</a:t>
            </a:r>
            <a:r>
              <a:rPr lang="nl-NL" sz="1400" dirty="0"/>
              <a:t> de coach komt uit een gesprek met de tool met een concrete vervolgactie of vervolgvraag. Bv. drie vragen voor zijn 1-op-1 met Emma morgen, een datapunt om deze week op te letten, of de constatering dat hij eerst zijn vragenlijst moet checken.</a:t>
            </a:r>
          </a:p>
          <a:p>
            <a:r>
              <a:rPr lang="nl-NL" sz="1400" b="1" dirty="0"/>
              <a:t>Belangrijk:</a:t>
            </a:r>
            <a:r>
              <a:rPr lang="nl-NL" sz="1400" dirty="0"/>
              <a:t> het hoeft géén pasklaar antwoord te zijn. In de (top)sport is dat zekere antwoord er meestal niet. "Pas op de plaats maken en doorvragen" is een legitieme uitkomst.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49"/>
            <a:ext cx="17610138" cy="660380"/>
          </a:xfrm>
          <a:prstGeom prst="rect">
            <a:avLst/>
          </a:prstGeom>
          <a:solidFill>
            <a:srgbClr val="1E7B6E"/>
          </a:solidFill>
          <a:ln w="12700">
            <a:solidFill>
              <a:srgbClr val="1E7B6E"/>
            </a:solidFill>
            <a:prstDash val="solid"/>
          </a:ln>
        </p:spPr>
        <p:txBody>
          <a:bodyPr/>
          <a:lstStyle/>
          <a:p>
            <a:endParaRPr lang="nl-NL" sz="1525"/>
          </a:p>
        </p:txBody>
      </p:sp>
      <p:sp>
        <p:nvSpPr>
          <p:cNvPr id="3" name="Text 1"/>
          <p:cNvSpPr/>
          <p:nvPr/>
        </p:nvSpPr>
        <p:spPr>
          <a:xfrm>
            <a:off x="0" y="149"/>
            <a:ext cx="17610138" cy="660380"/>
          </a:xfrm>
          <a:prstGeom prst="rect">
            <a:avLst/>
          </a:prstGeom>
          <a:noFill/>
          <a:ln/>
        </p:spPr>
        <p:txBody>
          <a:bodyPr wrap="square" rtlCol="0" anchor="ctr"/>
          <a:lstStyle/>
          <a:p>
            <a:pPr algn="ctr"/>
            <a:r>
              <a:rPr lang="en-US" sz="1878" b="1" spc="289" dirty="0">
                <a:solidFill>
                  <a:srgbClr val="FFFFFF"/>
                </a:solidFill>
              </a:rPr>
              <a:t>AI &amp; WAARDEAANBOD</a:t>
            </a:r>
            <a:endParaRPr lang="en-US" sz="1878" dirty="0"/>
          </a:p>
        </p:txBody>
      </p:sp>
      <p:sp>
        <p:nvSpPr>
          <p:cNvPr id="4" name="Shape 2"/>
          <p:cNvSpPr/>
          <p:nvPr/>
        </p:nvSpPr>
        <p:spPr>
          <a:xfrm>
            <a:off x="264152" y="792605"/>
            <a:ext cx="8459470" cy="2844037"/>
          </a:xfrm>
          <a:prstGeom prst="rect">
            <a:avLst/>
          </a:prstGeom>
          <a:solidFill>
            <a:srgbClr val="EFF8F5"/>
          </a:solidFill>
          <a:ln w="12700">
            <a:solidFill>
              <a:srgbClr val="A8D8CE"/>
            </a:solidFill>
            <a:prstDash val="solid"/>
          </a:ln>
        </p:spPr>
        <p:txBody>
          <a:bodyPr/>
          <a:lstStyle/>
          <a:p>
            <a:endParaRPr lang="nl-NL" sz="1525"/>
          </a:p>
        </p:txBody>
      </p:sp>
      <p:sp>
        <p:nvSpPr>
          <p:cNvPr id="5" name="Text 3"/>
          <p:cNvSpPr/>
          <p:nvPr/>
        </p:nvSpPr>
        <p:spPr>
          <a:xfrm>
            <a:off x="462266" y="990719"/>
            <a:ext cx="8063242" cy="290567"/>
          </a:xfrm>
          <a:prstGeom prst="rect">
            <a:avLst/>
          </a:prstGeom>
          <a:noFill/>
          <a:ln/>
        </p:spPr>
        <p:txBody>
          <a:bodyPr wrap="square" rtlCol="0" anchor="t"/>
          <a:lstStyle/>
          <a:p>
            <a:r>
              <a:rPr lang="en-US" sz="1444" b="1" dirty="0">
                <a:solidFill>
                  <a:srgbClr val="12263A"/>
                </a:solidFill>
              </a:rPr>
              <a:t>AI-mogelijkheden</a:t>
            </a:r>
            <a:endParaRPr lang="en-US" sz="1444" dirty="0"/>
          </a:p>
        </p:txBody>
      </p:sp>
      <p:sp>
        <p:nvSpPr>
          <p:cNvPr id="6" name="Text 4"/>
          <p:cNvSpPr/>
          <p:nvPr/>
        </p:nvSpPr>
        <p:spPr>
          <a:xfrm>
            <a:off x="462266" y="1307702"/>
            <a:ext cx="8063242" cy="224529"/>
          </a:xfrm>
          <a:prstGeom prst="rect">
            <a:avLst/>
          </a:prstGeom>
          <a:noFill/>
          <a:ln/>
        </p:spPr>
        <p:txBody>
          <a:bodyPr wrap="square" rtlCol="0" anchor="t"/>
          <a:lstStyle/>
          <a:p>
            <a:r>
              <a:rPr lang="en-US" sz="1083" i="1" dirty="0">
                <a:solidFill>
                  <a:srgbClr val="3D8A7D"/>
                </a:solidFill>
              </a:rPr>
              <a:t>Denk aan het volgende:</a:t>
            </a:r>
            <a:endParaRPr lang="en-US" sz="1083" dirty="0"/>
          </a:p>
        </p:txBody>
      </p:sp>
      <p:sp>
        <p:nvSpPr>
          <p:cNvPr id="7" name="Text 5"/>
          <p:cNvSpPr/>
          <p:nvPr/>
        </p:nvSpPr>
        <p:spPr>
          <a:xfrm>
            <a:off x="528304" y="1545438"/>
            <a:ext cx="7997204" cy="211322"/>
          </a:xfrm>
          <a:prstGeom prst="rect">
            <a:avLst/>
          </a:prstGeom>
          <a:noFill/>
          <a:ln/>
        </p:spPr>
        <p:txBody>
          <a:bodyPr wrap="square" rtlCol="0" anchor="t"/>
          <a:lstStyle/>
          <a:p>
            <a:r>
              <a:rPr lang="en-US" sz="1011" dirty="0">
                <a:solidFill>
                  <a:srgbClr val="3D8A7D"/>
                </a:solidFill>
              </a:rPr>
              <a:t>•  Wat kan AI doen voor de gebruiker?</a:t>
            </a:r>
            <a:endParaRPr lang="en-US" sz="1011" dirty="0"/>
          </a:p>
        </p:txBody>
      </p:sp>
      <p:sp>
        <p:nvSpPr>
          <p:cNvPr id="8" name="Text 6"/>
          <p:cNvSpPr/>
          <p:nvPr/>
        </p:nvSpPr>
        <p:spPr>
          <a:xfrm>
            <a:off x="528304" y="1756760"/>
            <a:ext cx="7997204" cy="211322"/>
          </a:xfrm>
          <a:prstGeom prst="rect">
            <a:avLst/>
          </a:prstGeom>
          <a:noFill/>
          <a:ln/>
        </p:spPr>
        <p:txBody>
          <a:bodyPr wrap="square" rtlCol="0" anchor="t"/>
          <a:lstStyle/>
          <a:p>
            <a:r>
              <a:rPr lang="en-US" sz="1011" dirty="0">
                <a:solidFill>
                  <a:srgbClr val="3D8A7D"/>
                </a:solidFill>
              </a:rPr>
              <a:t>•  Welk type AI is geschikt? (generatief, voorspellend, analyserend)</a:t>
            </a:r>
            <a:endParaRPr lang="en-US" sz="1011" dirty="0"/>
          </a:p>
        </p:txBody>
      </p:sp>
      <p:sp>
        <p:nvSpPr>
          <p:cNvPr id="9" name="Text 7"/>
          <p:cNvSpPr/>
          <p:nvPr/>
        </p:nvSpPr>
        <p:spPr>
          <a:xfrm>
            <a:off x="528304" y="1968082"/>
            <a:ext cx="7997204" cy="211322"/>
          </a:xfrm>
          <a:prstGeom prst="rect">
            <a:avLst/>
          </a:prstGeom>
          <a:noFill/>
          <a:ln/>
        </p:spPr>
        <p:txBody>
          <a:bodyPr wrap="square" rtlCol="0" anchor="t"/>
          <a:lstStyle/>
          <a:p>
            <a:r>
              <a:rPr lang="en-US" sz="1011" dirty="0">
                <a:solidFill>
                  <a:srgbClr val="3D8A7D"/>
                </a:solidFill>
              </a:rPr>
              <a:t>•  Wat doet AI beter dan de huidige aanpak?</a:t>
            </a:r>
            <a:endParaRPr lang="en-US" sz="1011" dirty="0"/>
          </a:p>
        </p:txBody>
      </p:sp>
      <p:sp>
        <p:nvSpPr>
          <p:cNvPr id="10" name="Shape 8"/>
          <p:cNvSpPr/>
          <p:nvPr/>
        </p:nvSpPr>
        <p:spPr>
          <a:xfrm>
            <a:off x="462266" y="2258649"/>
            <a:ext cx="8063242" cy="26415"/>
          </a:xfrm>
          <a:prstGeom prst="rect">
            <a:avLst/>
          </a:prstGeom>
          <a:solidFill>
            <a:srgbClr val="A8D8CE"/>
          </a:solidFill>
          <a:ln w="12700">
            <a:solidFill>
              <a:srgbClr val="A8D8CE"/>
            </a:solidFill>
            <a:prstDash val="solid"/>
          </a:ln>
        </p:spPr>
        <p:txBody>
          <a:bodyPr/>
          <a:lstStyle/>
          <a:p>
            <a:endParaRPr lang="nl-NL" sz="1525"/>
          </a:p>
        </p:txBody>
      </p:sp>
      <p:sp>
        <p:nvSpPr>
          <p:cNvPr id="11" name="Text 9"/>
          <p:cNvSpPr/>
          <p:nvPr/>
        </p:nvSpPr>
        <p:spPr>
          <a:xfrm>
            <a:off x="462266" y="2377517"/>
            <a:ext cx="8063242" cy="1061011"/>
          </a:xfrm>
          <a:prstGeom prst="rect">
            <a:avLst/>
          </a:prstGeom>
          <a:noFill/>
          <a:ln/>
        </p:spPr>
        <p:txBody>
          <a:bodyPr wrap="square" rtlCol="0" anchor="t"/>
          <a:lstStyle/>
          <a:p>
            <a:r>
              <a:rPr lang="nl-NL" sz="900" b="1" dirty="0"/>
              <a:t>Focus: Niveau 1 — AI als gesprekspartner / kennis-consultant</a:t>
            </a:r>
            <a:endParaRPr lang="nl-NL" sz="900" dirty="0"/>
          </a:p>
          <a:p>
            <a:r>
              <a:rPr lang="nl-NL" sz="900" b="1" dirty="0"/>
              <a:t>Wat AI doet:</a:t>
            </a:r>
            <a:r>
              <a:rPr lang="nl-NL" sz="900" dirty="0"/>
              <a:t> functioneert als sparringpartner met kennis van sportmonitoring en talentontwikkeling. Coach voert in gewone taal een gesprek over zijn situatie of twijfel. AI helpt door verhelderende vragen te stellen, alternatieve gezichtspunten aan te reiken, naar literatuur te verwijzen, en aan te zetten tot een vervolgactie.</a:t>
            </a:r>
          </a:p>
          <a:p>
            <a:r>
              <a:rPr lang="nl-NL" sz="900" b="1" dirty="0"/>
              <a:t>Type AI:</a:t>
            </a:r>
            <a:r>
              <a:rPr lang="nl-NL" sz="900" dirty="0"/>
              <a:t> generatieve AI (LLM) met domein-gerichte </a:t>
            </a:r>
            <a:r>
              <a:rPr lang="nl-NL" sz="900" dirty="0" err="1"/>
              <a:t>kennislaag</a:t>
            </a:r>
            <a:r>
              <a:rPr lang="nl-NL" sz="900" dirty="0"/>
              <a:t> — geen voorspellend of statistisch analysemodel.</a:t>
            </a:r>
          </a:p>
          <a:p>
            <a:r>
              <a:rPr lang="nl-NL" sz="900" b="1" dirty="0"/>
              <a:t>Wat AI beter doet dan nu:</a:t>
            </a:r>
            <a:r>
              <a:rPr lang="nl-NL" sz="900" dirty="0"/>
              <a:t> beschikbaar wanneer de coach hem nodig heeft; geduldig met half-geformuleerde vragen; helpt bij betere vragen i.p.v. pasklare antwoorden; zonder oordeel; consistent in toon.</a:t>
            </a:r>
          </a:p>
          <a:p>
            <a:r>
              <a:rPr lang="nl-NL" sz="900" b="1" dirty="0"/>
              <a:t>Niveau 2 — bewust geparkeerd:</a:t>
            </a:r>
            <a:r>
              <a:rPr lang="nl-NL" sz="900" dirty="0"/>
              <a:t> AI die monitoringdata uit </a:t>
            </a:r>
            <a:r>
              <a:rPr lang="nl-NL" sz="900" dirty="0" err="1"/>
              <a:t>Smartabase</a:t>
            </a:r>
            <a:r>
              <a:rPr lang="nl-NL" sz="900" dirty="0"/>
              <a:t>/SDV analyseert en patronen helpt herkennen, ligt klaar als doorontwikkelingsrichting (relevant voor </a:t>
            </a:r>
            <a:r>
              <a:rPr lang="nl-NL" sz="900" dirty="0" err="1"/>
              <a:t>CoachWell</a:t>
            </a:r>
            <a:r>
              <a:rPr lang="nl-NL" sz="900" dirty="0"/>
              <a:t>-vervolg), maar maakt geen deel uit van deze MVP.</a:t>
            </a:r>
          </a:p>
          <a:p>
            <a:r>
              <a:rPr lang="en-US" sz="900" dirty="0">
                <a:solidFill>
                  <a:srgbClr val="AAAAAA"/>
                </a:solidFill>
              </a:rPr>
              <a:t>.  </a:t>
            </a:r>
            <a:endParaRPr lang="en-US" sz="900" dirty="0"/>
          </a:p>
        </p:txBody>
      </p:sp>
      <p:sp>
        <p:nvSpPr>
          <p:cNvPr id="12" name="Shape 10"/>
          <p:cNvSpPr/>
          <p:nvPr/>
        </p:nvSpPr>
        <p:spPr>
          <a:xfrm>
            <a:off x="8882113" y="792605"/>
            <a:ext cx="8459470" cy="2844037"/>
          </a:xfrm>
          <a:prstGeom prst="rect">
            <a:avLst/>
          </a:prstGeom>
          <a:solidFill>
            <a:srgbClr val="EFF8F5"/>
          </a:solidFill>
          <a:ln w="12700">
            <a:solidFill>
              <a:srgbClr val="A8D8CE"/>
            </a:solidFill>
            <a:prstDash val="solid"/>
          </a:ln>
        </p:spPr>
        <p:txBody>
          <a:bodyPr/>
          <a:lstStyle/>
          <a:p>
            <a:endParaRPr lang="nl-NL" sz="1525" dirty="0"/>
          </a:p>
        </p:txBody>
      </p:sp>
      <p:sp>
        <p:nvSpPr>
          <p:cNvPr id="13" name="Text 11"/>
          <p:cNvSpPr/>
          <p:nvPr/>
        </p:nvSpPr>
        <p:spPr>
          <a:xfrm>
            <a:off x="9080227" y="990719"/>
            <a:ext cx="8063242" cy="290567"/>
          </a:xfrm>
          <a:prstGeom prst="rect">
            <a:avLst/>
          </a:prstGeom>
          <a:noFill/>
          <a:ln/>
        </p:spPr>
        <p:txBody>
          <a:bodyPr wrap="square" rtlCol="0" anchor="t"/>
          <a:lstStyle/>
          <a:p>
            <a:r>
              <a:rPr lang="en-US" sz="1444" b="1" dirty="0">
                <a:solidFill>
                  <a:srgbClr val="12263A"/>
                </a:solidFill>
              </a:rPr>
              <a:t>Databronnen</a:t>
            </a:r>
            <a:endParaRPr lang="en-US" sz="1444" dirty="0"/>
          </a:p>
        </p:txBody>
      </p:sp>
      <p:sp>
        <p:nvSpPr>
          <p:cNvPr id="14" name="Text 12"/>
          <p:cNvSpPr/>
          <p:nvPr/>
        </p:nvSpPr>
        <p:spPr>
          <a:xfrm>
            <a:off x="9080227" y="1307702"/>
            <a:ext cx="8063242" cy="224529"/>
          </a:xfrm>
          <a:prstGeom prst="rect">
            <a:avLst/>
          </a:prstGeom>
          <a:noFill/>
          <a:ln/>
        </p:spPr>
        <p:txBody>
          <a:bodyPr wrap="square" rtlCol="0" anchor="t"/>
          <a:lstStyle/>
          <a:p>
            <a:r>
              <a:rPr lang="en-US" sz="1083" i="1" dirty="0">
                <a:solidFill>
                  <a:srgbClr val="3D8A7D"/>
                </a:solidFill>
              </a:rPr>
              <a:t>Denk aan het volgende:</a:t>
            </a:r>
            <a:endParaRPr lang="en-US" sz="1083" dirty="0"/>
          </a:p>
        </p:txBody>
      </p:sp>
      <p:sp>
        <p:nvSpPr>
          <p:cNvPr id="15" name="Text 13"/>
          <p:cNvSpPr/>
          <p:nvPr/>
        </p:nvSpPr>
        <p:spPr>
          <a:xfrm>
            <a:off x="9146265" y="1545438"/>
            <a:ext cx="7997204" cy="211322"/>
          </a:xfrm>
          <a:prstGeom prst="rect">
            <a:avLst/>
          </a:prstGeom>
          <a:noFill/>
          <a:ln/>
        </p:spPr>
        <p:txBody>
          <a:bodyPr wrap="square" rtlCol="0" anchor="t"/>
          <a:lstStyle/>
          <a:p>
            <a:r>
              <a:rPr lang="en-US" sz="1011" dirty="0">
                <a:solidFill>
                  <a:srgbClr val="3D8A7D"/>
                </a:solidFill>
              </a:rPr>
              <a:t>•  Welke data heeft of genereert de gebruiker al?</a:t>
            </a:r>
            <a:endParaRPr lang="en-US" sz="1011" dirty="0"/>
          </a:p>
        </p:txBody>
      </p:sp>
      <p:sp>
        <p:nvSpPr>
          <p:cNvPr id="16" name="Text 14"/>
          <p:cNvSpPr/>
          <p:nvPr/>
        </p:nvSpPr>
        <p:spPr>
          <a:xfrm>
            <a:off x="9146265" y="1756760"/>
            <a:ext cx="7997204" cy="211322"/>
          </a:xfrm>
          <a:prstGeom prst="rect">
            <a:avLst/>
          </a:prstGeom>
          <a:noFill/>
          <a:ln/>
        </p:spPr>
        <p:txBody>
          <a:bodyPr wrap="square" rtlCol="0" anchor="t"/>
          <a:lstStyle/>
          <a:p>
            <a:r>
              <a:rPr lang="en-US" sz="1011" dirty="0">
                <a:solidFill>
                  <a:srgbClr val="3D8A7D"/>
                </a:solidFill>
              </a:rPr>
              <a:t>•  Welke externe of interne bronnen zijn er?</a:t>
            </a:r>
            <a:endParaRPr lang="en-US" sz="1011" dirty="0"/>
          </a:p>
        </p:txBody>
      </p:sp>
      <p:sp>
        <p:nvSpPr>
          <p:cNvPr id="17" name="Text 15"/>
          <p:cNvSpPr/>
          <p:nvPr/>
        </p:nvSpPr>
        <p:spPr>
          <a:xfrm>
            <a:off x="9146265" y="1968082"/>
            <a:ext cx="7997204" cy="211322"/>
          </a:xfrm>
          <a:prstGeom prst="rect">
            <a:avLst/>
          </a:prstGeom>
          <a:noFill/>
          <a:ln/>
        </p:spPr>
        <p:txBody>
          <a:bodyPr wrap="square" rtlCol="0" anchor="t"/>
          <a:lstStyle/>
          <a:p>
            <a:r>
              <a:rPr lang="en-US" sz="1011" dirty="0">
                <a:solidFill>
                  <a:srgbClr val="3D8A7D"/>
                </a:solidFill>
              </a:rPr>
              <a:t>•  Welke data moet nog worden verzameld of ontsloten?</a:t>
            </a:r>
            <a:endParaRPr lang="en-US" sz="1011" dirty="0"/>
          </a:p>
        </p:txBody>
      </p:sp>
      <p:sp>
        <p:nvSpPr>
          <p:cNvPr id="18" name="Shape 16"/>
          <p:cNvSpPr/>
          <p:nvPr/>
        </p:nvSpPr>
        <p:spPr>
          <a:xfrm>
            <a:off x="9080227" y="2258649"/>
            <a:ext cx="8063242" cy="26415"/>
          </a:xfrm>
          <a:prstGeom prst="rect">
            <a:avLst/>
          </a:prstGeom>
          <a:solidFill>
            <a:srgbClr val="A8D8CE"/>
          </a:solidFill>
          <a:ln w="12700">
            <a:solidFill>
              <a:srgbClr val="A8D8CE"/>
            </a:solidFill>
            <a:prstDash val="solid"/>
          </a:ln>
        </p:spPr>
        <p:txBody>
          <a:bodyPr/>
          <a:lstStyle/>
          <a:p>
            <a:endParaRPr lang="nl-NL" sz="1525"/>
          </a:p>
        </p:txBody>
      </p:sp>
      <p:sp>
        <p:nvSpPr>
          <p:cNvPr id="19" name="Text 17"/>
          <p:cNvSpPr/>
          <p:nvPr/>
        </p:nvSpPr>
        <p:spPr>
          <a:xfrm>
            <a:off x="9080227" y="2377517"/>
            <a:ext cx="8063242" cy="1061011"/>
          </a:xfrm>
          <a:prstGeom prst="rect">
            <a:avLst/>
          </a:prstGeom>
          <a:noFill/>
          <a:ln/>
        </p:spPr>
        <p:txBody>
          <a:bodyPr wrap="square" rtlCol="0" anchor="t"/>
          <a:lstStyle/>
          <a:p>
            <a:r>
              <a:rPr lang="nl-NL" sz="1050" b="1" dirty="0"/>
              <a:t>Niveau 1 — binnen scope:</a:t>
            </a:r>
            <a:r>
              <a:rPr lang="nl-NL" sz="1050" dirty="0"/>
              <a:t> de vragen, casussen en situaties die de coach zelf inbrengt. Een gecureerde basis aan kennis en literatuur over sportmonitoring, trainingsbelasting, welzijn, talentontwikkeling, vragenlijstmethodologie en coaching. Inzichten uit ons eigen onderzoek (Sportmonitor op Maat, Coach in Control).</a:t>
            </a:r>
          </a:p>
          <a:p>
            <a:r>
              <a:rPr lang="nl-NL" sz="1050" b="1" dirty="0"/>
              <a:t>Nog te ontsluiten:</a:t>
            </a:r>
            <a:r>
              <a:rPr lang="nl-NL" sz="1050" dirty="0"/>
              <a:t> een werkbare </a:t>
            </a:r>
            <a:r>
              <a:rPr lang="nl-NL" sz="1050" dirty="0" err="1"/>
              <a:t>bronnenset</a:t>
            </a:r>
            <a:r>
              <a:rPr lang="nl-NL" sz="1050" dirty="0"/>
              <a:t> (referentieliteratuur, methodologie-overzichten) die hallucinaties beperkt. Echt project, geen detail.</a:t>
            </a:r>
          </a:p>
          <a:p>
            <a:r>
              <a:rPr lang="nl-NL" sz="1050" b="1" dirty="0"/>
              <a:t>Niveau 2 — buiten scope MVP:</a:t>
            </a:r>
            <a:r>
              <a:rPr lang="nl-NL" sz="1050" dirty="0"/>
              <a:t> monitoringdata uit </a:t>
            </a:r>
            <a:r>
              <a:rPr lang="nl-NL" sz="1050" dirty="0" err="1"/>
              <a:t>Smartabase</a:t>
            </a:r>
            <a:r>
              <a:rPr lang="nl-NL" sz="1050" dirty="0"/>
              <a:t> / </a:t>
            </a:r>
            <a:r>
              <a:rPr lang="nl-NL" sz="1050" dirty="0" err="1"/>
              <a:t>SportDataValley</a:t>
            </a:r>
            <a:r>
              <a:rPr lang="nl-NL" sz="1050" dirty="0"/>
              <a:t>. Bewust benoemd om te markeren dat de tool náást deze platformen staat — platformonafhankelijk, niet ingebouwd.</a:t>
            </a:r>
          </a:p>
          <a:p>
            <a:r>
              <a:rPr lang="en-US" sz="1050" dirty="0">
                <a:solidFill>
                  <a:srgbClr val="AAAAAA"/>
                </a:solidFill>
              </a:rPr>
              <a:t>. </a:t>
            </a:r>
            <a:endParaRPr lang="en-US" sz="1050" dirty="0"/>
          </a:p>
        </p:txBody>
      </p:sp>
      <p:sp>
        <p:nvSpPr>
          <p:cNvPr id="20" name="Shape 18"/>
          <p:cNvSpPr/>
          <p:nvPr/>
        </p:nvSpPr>
        <p:spPr>
          <a:xfrm>
            <a:off x="264152" y="3795134"/>
            <a:ext cx="8459470" cy="2844037"/>
          </a:xfrm>
          <a:prstGeom prst="rect">
            <a:avLst/>
          </a:prstGeom>
          <a:solidFill>
            <a:srgbClr val="EFF8F5"/>
          </a:solidFill>
          <a:ln w="12700">
            <a:solidFill>
              <a:srgbClr val="A8D8CE"/>
            </a:solidFill>
            <a:prstDash val="solid"/>
          </a:ln>
        </p:spPr>
        <p:txBody>
          <a:bodyPr/>
          <a:lstStyle/>
          <a:p>
            <a:endParaRPr lang="nl-NL" sz="1525"/>
          </a:p>
        </p:txBody>
      </p:sp>
      <p:sp>
        <p:nvSpPr>
          <p:cNvPr id="21" name="Text 19"/>
          <p:cNvSpPr/>
          <p:nvPr/>
        </p:nvSpPr>
        <p:spPr>
          <a:xfrm>
            <a:off x="462266" y="3993248"/>
            <a:ext cx="8063242" cy="290567"/>
          </a:xfrm>
          <a:prstGeom prst="rect">
            <a:avLst/>
          </a:prstGeom>
          <a:noFill/>
          <a:ln/>
        </p:spPr>
        <p:txBody>
          <a:bodyPr wrap="square" rtlCol="0" anchor="t"/>
          <a:lstStyle/>
          <a:p>
            <a:r>
              <a:rPr lang="en-US" sz="1444" b="1" dirty="0">
                <a:solidFill>
                  <a:srgbClr val="12263A"/>
                </a:solidFill>
              </a:rPr>
              <a:t>Datakwaliteit &amp; -beheer</a:t>
            </a:r>
            <a:endParaRPr lang="en-US" sz="1444" dirty="0"/>
          </a:p>
        </p:txBody>
      </p:sp>
      <p:sp>
        <p:nvSpPr>
          <p:cNvPr id="27" name="Text 25"/>
          <p:cNvSpPr/>
          <p:nvPr/>
        </p:nvSpPr>
        <p:spPr>
          <a:xfrm>
            <a:off x="462266" y="4297022"/>
            <a:ext cx="8063242" cy="1061011"/>
          </a:xfrm>
          <a:prstGeom prst="rect">
            <a:avLst/>
          </a:prstGeom>
          <a:noFill/>
          <a:ln/>
        </p:spPr>
        <p:txBody>
          <a:bodyPr wrap="square" rtlCol="0" anchor="t"/>
          <a:lstStyle/>
          <a:p>
            <a:r>
              <a:rPr lang="nl-NL" sz="1100" b="1" dirty="0"/>
              <a:t>1. Data die ín de AI gaat (Niveau 1 — onze scope):</a:t>
            </a:r>
            <a:r>
              <a:rPr lang="nl-NL" sz="1100" dirty="0"/>
              <a:t> Vooral beschikbare kennis: wetenschappelijke literatuur en bronnen over sportmonitoring, trainingsbelasting, welzijn, talentontwikkeling, vragenlijstmethodologie. Plus de heuristieken en inzichten uit onze eigen onderzoekstraditie (Sportmonitor op Maat, Coach in Control). Deze data is grotendeels openbaar of bij ons beschikbaar — relatief weinig technische integratievraagstukken. Kwaliteitsvraag zit hier in de curatie: welke bronnen wegen mee, hoe actueel zijn ze, wie onderhoudt deze </a:t>
            </a:r>
            <a:r>
              <a:rPr lang="nl-NL" sz="1100" dirty="0" err="1"/>
              <a:t>kennislaag</a:t>
            </a:r>
            <a:r>
              <a:rPr lang="nl-NL" sz="1100" dirty="0"/>
              <a:t>, en hoe voorkomen we dat de AI dingen verzint die er niet staan.</a:t>
            </a:r>
          </a:p>
          <a:p>
            <a:r>
              <a:rPr lang="nl-NL" sz="1100" b="1" dirty="0"/>
              <a:t>2. Data waar de coach naar kijkt (de sporterdata):</a:t>
            </a:r>
            <a:r>
              <a:rPr lang="nl-NL" sz="1100" dirty="0"/>
              <a:t> Trainingslogs, dagboeken, welzijnsvragenlijsten, RPE-scores, slaap- en herstelgegevens, soms gezondheidsdata — alles wat de sporter dagelijks invult of wat uit wearables komt. Deze data zit in </a:t>
            </a:r>
            <a:r>
              <a:rPr lang="nl-NL" sz="1100" dirty="0" err="1"/>
              <a:t>Smartabase</a:t>
            </a:r>
            <a:r>
              <a:rPr lang="nl-NL" sz="1100" dirty="0"/>
              <a:t>, </a:t>
            </a:r>
            <a:r>
              <a:rPr lang="nl-NL" sz="1100" dirty="0" err="1"/>
              <a:t>SportDataValley</a:t>
            </a:r>
            <a:r>
              <a:rPr lang="nl-NL" sz="1100" dirty="0"/>
              <a:t> of eigen sheets. Hier ligt het zware vraagstuk: kwaliteit van invullen wisselt sterk per sporter en per periode (compliance, eerlijkheid, drift), de sporter zelf is in de praktijk vaak de échte eigenaar van deze data, en toegang/consent zijn niet-triviaal. Voor de MVP raken we deze data bewust niet aan — dit valt onder Niveau 2.</a:t>
            </a:r>
          </a:p>
          <a:p>
            <a:r>
              <a:rPr lang="nl-NL" sz="1100" b="1" dirty="0"/>
              <a:t>Wat de coach ínvoert in een gesprek met de </a:t>
            </a:r>
            <a:r>
              <a:rPr lang="nl-NL" sz="1100" b="1" dirty="0" err="1"/>
              <a:t>chatbot</a:t>
            </a:r>
            <a:r>
              <a:rPr lang="nl-NL" sz="1100" dirty="0"/>
              <a:t> (namen, observaties, situaties van sporters) is een derde, kleinere stroom die wél onze zorg is — persoonsgegeven, soms bijzonder. Zie Ethiek &amp; Privacy: voorkeur is hosting zonder training op input en advies aan de coach om geen identificeerbare gegevens te delen.</a:t>
            </a:r>
          </a:p>
          <a:p>
            <a:r>
              <a:rPr lang="nl-NL" sz="1100" b="1" dirty="0"/>
              <a:t>Niveau 2 — bewust benoemd:</a:t>
            </a:r>
            <a:r>
              <a:rPr lang="nl-NL" sz="1100" dirty="0"/>
              <a:t> zodra we de sporterdata zelf willen ontsluiten voor de AI, openen we de hele </a:t>
            </a:r>
            <a:r>
              <a:rPr lang="nl-NL" sz="1100" dirty="0" err="1"/>
              <a:t>Smartabase</a:t>
            </a:r>
            <a:r>
              <a:rPr lang="nl-NL" sz="1100" dirty="0"/>
              <a:t>/SDV-</a:t>
            </a:r>
            <a:r>
              <a:rPr lang="nl-NL" sz="1100" dirty="0" err="1"/>
              <a:t>integratielaag</a:t>
            </a:r>
            <a:r>
              <a:rPr lang="nl-NL" sz="1100" dirty="0"/>
              <a:t> (API-toegang, datamodel-</a:t>
            </a:r>
            <a:r>
              <a:rPr lang="nl-NL" sz="1100" dirty="0" err="1"/>
              <a:t>mapping</a:t>
            </a:r>
            <a:r>
              <a:rPr lang="nl-NL" sz="1100" dirty="0"/>
              <a:t>, retentie, eigenaarschap, consent per sporter). Cruciaal voor later, niet voor nu.</a:t>
            </a:r>
          </a:p>
        </p:txBody>
      </p:sp>
      <p:sp>
        <p:nvSpPr>
          <p:cNvPr id="28" name="Shape 26"/>
          <p:cNvSpPr/>
          <p:nvPr/>
        </p:nvSpPr>
        <p:spPr>
          <a:xfrm>
            <a:off x="8882113" y="3795134"/>
            <a:ext cx="8459470" cy="2844037"/>
          </a:xfrm>
          <a:prstGeom prst="rect">
            <a:avLst/>
          </a:prstGeom>
          <a:solidFill>
            <a:srgbClr val="EFF8F5"/>
          </a:solidFill>
          <a:ln w="12700">
            <a:solidFill>
              <a:srgbClr val="A8D8CE"/>
            </a:solidFill>
            <a:prstDash val="solid"/>
          </a:ln>
        </p:spPr>
        <p:txBody>
          <a:bodyPr/>
          <a:lstStyle/>
          <a:p>
            <a:endParaRPr lang="nl-NL" sz="1525"/>
          </a:p>
        </p:txBody>
      </p:sp>
      <p:sp>
        <p:nvSpPr>
          <p:cNvPr id="29" name="Text 27"/>
          <p:cNvSpPr/>
          <p:nvPr/>
        </p:nvSpPr>
        <p:spPr>
          <a:xfrm>
            <a:off x="9080227" y="3993248"/>
            <a:ext cx="8063242" cy="290567"/>
          </a:xfrm>
          <a:prstGeom prst="rect">
            <a:avLst/>
          </a:prstGeom>
          <a:noFill/>
          <a:ln/>
        </p:spPr>
        <p:txBody>
          <a:bodyPr wrap="square" rtlCol="0" anchor="t"/>
          <a:lstStyle/>
          <a:p>
            <a:r>
              <a:rPr lang="en-US" sz="1444" b="1" dirty="0">
                <a:solidFill>
                  <a:srgbClr val="12263A"/>
                </a:solidFill>
              </a:rPr>
              <a:t>Product / Dienst (MVP)</a:t>
            </a:r>
            <a:endParaRPr lang="en-US" sz="1444" dirty="0"/>
          </a:p>
        </p:txBody>
      </p:sp>
      <p:sp>
        <p:nvSpPr>
          <p:cNvPr id="30" name="Text 28"/>
          <p:cNvSpPr/>
          <p:nvPr/>
        </p:nvSpPr>
        <p:spPr>
          <a:xfrm>
            <a:off x="9080227" y="4310230"/>
            <a:ext cx="8063242" cy="224529"/>
          </a:xfrm>
          <a:prstGeom prst="rect">
            <a:avLst/>
          </a:prstGeom>
          <a:noFill/>
          <a:ln/>
        </p:spPr>
        <p:txBody>
          <a:bodyPr wrap="square" rtlCol="0" anchor="t"/>
          <a:lstStyle/>
          <a:p>
            <a:r>
              <a:rPr lang="en-US" sz="1083" i="1" dirty="0">
                <a:solidFill>
                  <a:srgbClr val="3D8A7D"/>
                </a:solidFill>
              </a:rPr>
              <a:t>Denk aan het volgende:</a:t>
            </a:r>
            <a:endParaRPr lang="en-US" sz="1083" dirty="0"/>
          </a:p>
        </p:txBody>
      </p:sp>
      <p:sp>
        <p:nvSpPr>
          <p:cNvPr id="31" name="Text 29"/>
          <p:cNvSpPr/>
          <p:nvPr/>
        </p:nvSpPr>
        <p:spPr>
          <a:xfrm>
            <a:off x="9146265" y="4547967"/>
            <a:ext cx="7997204" cy="211322"/>
          </a:xfrm>
          <a:prstGeom prst="rect">
            <a:avLst/>
          </a:prstGeom>
          <a:noFill/>
          <a:ln/>
        </p:spPr>
        <p:txBody>
          <a:bodyPr wrap="square" rtlCol="0" anchor="t"/>
          <a:lstStyle/>
          <a:p>
            <a:r>
              <a:rPr lang="en-US" sz="1011" dirty="0">
                <a:solidFill>
                  <a:srgbClr val="3D8A7D"/>
                </a:solidFill>
              </a:rPr>
              <a:t>•  Wat bouwen we precies? (tool, dashboard, assistent, model)</a:t>
            </a:r>
            <a:endParaRPr lang="en-US" sz="1011" dirty="0"/>
          </a:p>
        </p:txBody>
      </p:sp>
      <p:sp>
        <p:nvSpPr>
          <p:cNvPr id="32" name="Text 30"/>
          <p:cNvSpPr/>
          <p:nvPr/>
        </p:nvSpPr>
        <p:spPr>
          <a:xfrm>
            <a:off x="9146265" y="4759288"/>
            <a:ext cx="7997204" cy="211322"/>
          </a:xfrm>
          <a:prstGeom prst="rect">
            <a:avLst/>
          </a:prstGeom>
          <a:noFill/>
          <a:ln/>
        </p:spPr>
        <p:txBody>
          <a:bodyPr wrap="square" rtlCol="0" anchor="t"/>
          <a:lstStyle/>
          <a:p>
            <a:r>
              <a:rPr lang="en-US" sz="1011" dirty="0">
                <a:solidFill>
                  <a:srgbClr val="3D8A7D"/>
                </a:solidFill>
              </a:rPr>
              <a:t>•  Hoe ziet de eerste versie eruit?</a:t>
            </a:r>
            <a:endParaRPr lang="en-US" sz="1011" dirty="0"/>
          </a:p>
        </p:txBody>
      </p:sp>
      <p:sp>
        <p:nvSpPr>
          <p:cNvPr id="33" name="Text 31"/>
          <p:cNvSpPr/>
          <p:nvPr/>
        </p:nvSpPr>
        <p:spPr>
          <a:xfrm>
            <a:off x="9146265" y="4970610"/>
            <a:ext cx="7997204" cy="211322"/>
          </a:xfrm>
          <a:prstGeom prst="rect">
            <a:avLst/>
          </a:prstGeom>
          <a:noFill/>
          <a:ln/>
        </p:spPr>
        <p:txBody>
          <a:bodyPr wrap="square" rtlCol="0" anchor="t"/>
          <a:lstStyle/>
          <a:p>
            <a:r>
              <a:rPr lang="en-US" sz="1011" dirty="0">
                <a:solidFill>
                  <a:srgbClr val="3D8A7D"/>
                </a:solidFill>
              </a:rPr>
              <a:t>•  Hoe integreert het in de workflow van de gebruiker?</a:t>
            </a:r>
            <a:endParaRPr lang="en-US" sz="1011" dirty="0"/>
          </a:p>
        </p:txBody>
      </p:sp>
      <p:sp>
        <p:nvSpPr>
          <p:cNvPr id="34" name="Shape 32"/>
          <p:cNvSpPr/>
          <p:nvPr/>
        </p:nvSpPr>
        <p:spPr>
          <a:xfrm>
            <a:off x="9080227" y="5261178"/>
            <a:ext cx="8063242" cy="26415"/>
          </a:xfrm>
          <a:prstGeom prst="rect">
            <a:avLst/>
          </a:prstGeom>
          <a:solidFill>
            <a:srgbClr val="A8D8CE"/>
          </a:solidFill>
          <a:ln w="12700">
            <a:solidFill>
              <a:srgbClr val="A8D8CE"/>
            </a:solidFill>
            <a:prstDash val="solid"/>
          </a:ln>
        </p:spPr>
        <p:txBody>
          <a:bodyPr/>
          <a:lstStyle/>
          <a:p>
            <a:endParaRPr lang="nl-NL" sz="1525"/>
          </a:p>
        </p:txBody>
      </p:sp>
      <p:sp>
        <p:nvSpPr>
          <p:cNvPr id="35" name="Text 33"/>
          <p:cNvSpPr/>
          <p:nvPr/>
        </p:nvSpPr>
        <p:spPr>
          <a:xfrm>
            <a:off x="9080227" y="5380046"/>
            <a:ext cx="8063242" cy="1061011"/>
          </a:xfrm>
          <a:prstGeom prst="rect">
            <a:avLst/>
          </a:prstGeom>
          <a:noFill/>
          <a:ln/>
        </p:spPr>
        <p:txBody>
          <a:bodyPr wrap="square" rtlCol="0" anchor="t"/>
          <a:lstStyle/>
          <a:p>
            <a:r>
              <a:rPr lang="nl-NL" sz="1000" b="1" dirty="0"/>
              <a:t>Wat we bouwen:</a:t>
            </a:r>
            <a:r>
              <a:rPr lang="nl-NL" sz="1000" dirty="0"/>
              <a:t> een AI-</a:t>
            </a:r>
            <a:r>
              <a:rPr lang="nl-NL" sz="1000" dirty="0" err="1"/>
              <a:t>chatbot</a:t>
            </a:r>
            <a:r>
              <a:rPr lang="nl-NL" sz="1000" dirty="0"/>
              <a:t> — tekst-gebaseerde assistent via een eenvoudige web-interface. Geen integratie met </a:t>
            </a:r>
            <a:r>
              <a:rPr lang="nl-NL" sz="1000" dirty="0" err="1"/>
              <a:t>Smartabase</a:t>
            </a:r>
            <a:r>
              <a:rPr lang="nl-NL" sz="1000" dirty="0"/>
              <a:t>/SDV, geen dashboard, geen analyse-engine — bewust niet (= Niveau 2).</a:t>
            </a:r>
          </a:p>
          <a:p>
            <a:r>
              <a:rPr lang="nl-NL" sz="1000" b="1" dirty="0"/>
              <a:t>Eerste versie:</a:t>
            </a:r>
            <a:r>
              <a:rPr lang="nl-NL" sz="1000" dirty="0"/>
              <a:t> web-toegankelijke </a:t>
            </a:r>
            <a:r>
              <a:rPr lang="nl-NL" sz="1000" dirty="0" err="1"/>
              <a:t>chatbot</a:t>
            </a:r>
            <a:r>
              <a:rPr lang="nl-NL" sz="1000" dirty="0"/>
              <a:t> achter login. Domein-gerichte system prompt + </a:t>
            </a:r>
            <a:r>
              <a:rPr lang="nl-NL" sz="1000" dirty="0" err="1"/>
              <a:t>curated</a:t>
            </a:r>
            <a:r>
              <a:rPr lang="nl-NL" sz="1000" dirty="0"/>
              <a:t> </a:t>
            </a:r>
            <a:r>
              <a:rPr lang="nl-NL" sz="1000" dirty="0" err="1"/>
              <a:t>kennislaag</a:t>
            </a:r>
            <a:r>
              <a:rPr lang="nl-NL" sz="1000" dirty="0"/>
              <a:t>. Helder intro: dit is een sparringpartner, geen orakel; coach blijft beslisser. Mogelijkheid om context op te bouwen (sport, ploeg, monitoringaanpak).</a:t>
            </a:r>
          </a:p>
          <a:p>
            <a:r>
              <a:rPr lang="nl-NL" sz="1000" b="1" dirty="0"/>
              <a:t>In de workflow:</a:t>
            </a:r>
            <a:r>
              <a:rPr lang="nl-NL" sz="1000" dirty="0"/>
              <a:t> ad-hoc gebruik. Coach raadpleegt de </a:t>
            </a:r>
            <a:r>
              <a:rPr lang="nl-NL" sz="1000" dirty="0" err="1"/>
              <a:t>chatbot</a:t>
            </a:r>
            <a:r>
              <a:rPr lang="nl-NL" sz="1000" dirty="0"/>
              <a:t> wanneer hij ergens tegenaan loopt — voor/na een training, bij voorbereiding van een 1-op-1, of als iets in zijn data hem dwarszit. Geen vast ritueel — náást de coach, niet erbovenop.</a:t>
            </a:r>
          </a:p>
        </p:txBody>
      </p:sp>
      <p:sp>
        <p:nvSpPr>
          <p:cNvPr id="36" name="Shape 34"/>
          <p:cNvSpPr/>
          <p:nvPr/>
        </p:nvSpPr>
        <p:spPr>
          <a:xfrm>
            <a:off x="264152" y="6797662"/>
            <a:ext cx="17077431" cy="2844037"/>
          </a:xfrm>
          <a:prstGeom prst="rect">
            <a:avLst/>
          </a:prstGeom>
          <a:solidFill>
            <a:srgbClr val="EFF8F5"/>
          </a:solidFill>
          <a:ln w="12700">
            <a:solidFill>
              <a:srgbClr val="A8D8CE"/>
            </a:solidFill>
            <a:prstDash val="solid"/>
          </a:ln>
        </p:spPr>
        <p:txBody>
          <a:bodyPr/>
          <a:lstStyle/>
          <a:p>
            <a:endParaRPr lang="nl-NL" sz="1525"/>
          </a:p>
        </p:txBody>
      </p:sp>
      <p:sp>
        <p:nvSpPr>
          <p:cNvPr id="37" name="Text 35"/>
          <p:cNvSpPr/>
          <p:nvPr/>
        </p:nvSpPr>
        <p:spPr>
          <a:xfrm>
            <a:off x="462266" y="6995776"/>
            <a:ext cx="16681203" cy="290567"/>
          </a:xfrm>
          <a:prstGeom prst="rect">
            <a:avLst/>
          </a:prstGeom>
          <a:noFill/>
          <a:ln/>
        </p:spPr>
        <p:txBody>
          <a:bodyPr wrap="square" rtlCol="0" anchor="t"/>
          <a:lstStyle/>
          <a:p>
            <a:r>
              <a:rPr lang="en-US" sz="1444" b="1" dirty="0">
                <a:solidFill>
                  <a:srgbClr val="12263A"/>
                </a:solidFill>
              </a:rPr>
              <a:t>Waardecreatie</a:t>
            </a:r>
            <a:endParaRPr lang="en-US" sz="1444" dirty="0"/>
          </a:p>
        </p:txBody>
      </p:sp>
      <p:sp>
        <p:nvSpPr>
          <p:cNvPr id="38" name="Text 36"/>
          <p:cNvSpPr/>
          <p:nvPr/>
        </p:nvSpPr>
        <p:spPr>
          <a:xfrm>
            <a:off x="462266" y="7312759"/>
            <a:ext cx="16681203" cy="224529"/>
          </a:xfrm>
          <a:prstGeom prst="rect">
            <a:avLst/>
          </a:prstGeom>
          <a:noFill/>
          <a:ln/>
        </p:spPr>
        <p:txBody>
          <a:bodyPr wrap="square" rtlCol="0" anchor="t"/>
          <a:lstStyle/>
          <a:p>
            <a:r>
              <a:rPr lang="en-US" sz="1083" i="1" dirty="0">
                <a:solidFill>
                  <a:srgbClr val="3D8A7D"/>
                </a:solidFill>
              </a:rPr>
              <a:t>Denk aan het volgende:</a:t>
            </a:r>
            <a:endParaRPr lang="en-US" sz="1083" dirty="0"/>
          </a:p>
        </p:txBody>
      </p:sp>
      <p:sp>
        <p:nvSpPr>
          <p:cNvPr id="39" name="Text 37"/>
          <p:cNvSpPr/>
          <p:nvPr/>
        </p:nvSpPr>
        <p:spPr>
          <a:xfrm>
            <a:off x="528304" y="7550495"/>
            <a:ext cx="16615165" cy="211322"/>
          </a:xfrm>
          <a:prstGeom prst="rect">
            <a:avLst/>
          </a:prstGeom>
          <a:noFill/>
          <a:ln/>
        </p:spPr>
        <p:txBody>
          <a:bodyPr wrap="square" rtlCol="0" anchor="t"/>
          <a:lstStyle/>
          <a:p>
            <a:r>
              <a:rPr lang="en-US" sz="1011" dirty="0">
                <a:solidFill>
                  <a:srgbClr val="3D8A7D"/>
                </a:solidFill>
              </a:rPr>
              <a:t>•  Welke pijnpunten lost de AI-oplossing op?</a:t>
            </a:r>
            <a:endParaRPr lang="en-US" sz="1011" dirty="0"/>
          </a:p>
        </p:txBody>
      </p:sp>
      <p:sp>
        <p:nvSpPr>
          <p:cNvPr id="40" name="Text 38"/>
          <p:cNvSpPr/>
          <p:nvPr/>
        </p:nvSpPr>
        <p:spPr>
          <a:xfrm>
            <a:off x="528304" y="7761817"/>
            <a:ext cx="16615165" cy="211322"/>
          </a:xfrm>
          <a:prstGeom prst="rect">
            <a:avLst/>
          </a:prstGeom>
          <a:noFill/>
          <a:ln/>
        </p:spPr>
        <p:txBody>
          <a:bodyPr wrap="square" rtlCol="0" anchor="t"/>
          <a:lstStyle/>
          <a:p>
            <a:r>
              <a:rPr lang="en-US" sz="1011" dirty="0">
                <a:solidFill>
                  <a:srgbClr val="3D8A7D"/>
                </a:solidFill>
              </a:rPr>
              <a:t>•  Welke nieuwe waarde of mogelijkheden ontstaan er?</a:t>
            </a:r>
            <a:endParaRPr lang="en-US" sz="1011" dirty="0"/>
          </a:p>
        </p:txBody>
      </p:sp>
      <p:sp>
        <p:nvSpPr>
          <p:cNvPr id="41" name="Text 39"/>
          <p:cNvSpPr/>
          <p:nvPr/>
        </p:nvSpPr>
        <p:spPr>
          <a:xfrm>
            <a:off x="528304" y="7973138"/>
            <a:ext cx="16615165" cy="211322"/>
          </a:xfrm>
          <a:prstGeom prst="rect">
            <a:avLst/>
          </a:prstGeom>
          <a:noFill/>
          <a:ln/>
        </p:spPr>
        <p:txBody>
          <a:bodyPr wrap="square" rtlCol="0" anchor="t"/>
          <a:lstStyle/>
          <a:p>
            <a:r>
              <a:rPr lang="en-US" sz="1011" dirty="0">
                <a:solidFill>
                  <a:srgbClr val="3D8A7D"/>
                </a:solidFill>
              </a:rPr>
              <a:t>•  Wat verbetert er concreet voor de gebruiker?</a:t>
            </a:r>
            <a:endParaRPr lang="en-US" sz="1011" dirty="0"/>
          </a:p>
        </p:txBody>
      </p:sp>
      <p:sp>
        <p:nvSpPr>
          <p:cNvPr id="42" name="Shape 40"/>
          <p:cNvSpPr/>
          <p:nvPr/>
        </p:nvSpPr>
        <p:spPr>
          <a:xfrm>
            <a:off x="462266" y="8263706"/>
            <a:ext cx="16681203" cy="26415"/>
          </a:xfrm>
          <a:prstGeom prst="rect">
            <a:avLst/>
          </a:prstGeom>
          <a:solidFill>
            <a:srgbClr val="A8D8CE"/>
          </a:solidFill>
          <a:ln w="12700">
            <a:solidFill>
              <a:srgbClr val="A8D8CE"/>
            </a:solidFill>
            <a:prstDash val="solid"/>
          </a:ln>
        </p:spPr>
        <p:txBody>
          <a:bodyPr/>
          <a:lstStyle/>
          <a:p>
            <a:endParaRPr lang="nl-NL" sz="1525"/>
          </a:p>
        </p:txBody>
      </p:sp>
      <p:sp>
        <p:nvSpPr>
          <p:cNvPr id="43" name="Text 41"/>
          <p:cNvSpPr/>
          <p:nvPr/>
        </p:nvSpPr>
        <p:spPr>
          <a:xfrm>
            <a:off x="462266" y="8382574"/>
            <a:ext cx="16681203" cy="1061011"/>
          </a:xfrm>
          <a:prstGeom prst="rect">
            <a:avLst/>
          </a:prstGeom>
          <a:noFill/>
          <a:ln/>
        </p:spPr>
        <p:txBody>
          <a:bodyPr wrap="square" rtlCol="0" anchor="t"/>
          <a:lstStyle/>
          <a:p>
            <a:r>
              <a:rPr lang="nl-NL" sz="1100" b="1" dirty="0"/>
              <a:t>Welke pijnpunten lost dit op:</a:t>
            </a:r>
            <a:r>
              <a:rPr lang="nl-NL" sz="1100" dirty="0"/>
              <a:t> afwezigheid van een sparringpartner; de drempel om data überhaupt te gebruiken; de verstomming na het invullen door de sporter; het impliciete perfectionisme — "geen sluitend antwoord" wordt expliciet legitieme uitkomst.</a:t>
            </a:r>
          </a:p>
          <a:p>
            <a:r>
              <a:rPr lang="nl-NL" sz="1100" b="1" dirty="0"/>
              <a:t>Welke nieuwe waarde:</a:t>
            </a:r>
            <a:r>
              <a:rPr lang="nl-NL" sz="1100" dirty="0"/>
              <a:t> coaches kunnen het nut van monitoring beter uitleggen aan hun sporters omdat ze het zelf beter doorgronden. Coaching-onderwijs en bonden krijgen een instrument om in te zetten richting hun coaches. Voor het lectoraat: prototype dat aansluit op lopend onderzoek en als opstap dient voor het Europese </a:t>
            </a:r>
            <a:r>
              <a:rPr lang="nl-NL" sz="1100" dirty="0" err="1"/>
              <a:t>CoachWell</a:t>
            </a:r>
            <a:r>
              <a:rPr lang="nl-NL" sz="1100" dirty="0"/>
              <a:t>-traject.</a:t>
            </a:r>
          </a:p>
          <a:p>
            <a:r>
              <a:rPr lang="nl-NL" sz="1100" b="1" dirty="0"/>
              <a:t>Wat verbetert concreet:</a:t>
            </a:r>
            <a:r>
              <a:rPr lang="nl-NL" sz="1100" dirty="0"/>
              <a:t> coach komt uit een gesprek met de tool met een actie of vraag voor zijn sporter. Het gesprek tussen coach en sporter wordt weer gevoed door de monitoring. Sporters krijgen vaker terugkoppeling — invul-bereidheid blijft op peil.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49"/>
            <a:ext cx="17610138" cy="660380"/>
          </a:xfrm>
          <a:prstGeom prst="rect">
            <a:avLst/>
          </a:prstGeom>
          <a:solidFill>
            <a:srgbClr val="4A5D6E"/>
          </a:solidFill>
          <a:ln w="12700">
            <a:solidFill>
              <a:srgbClr val="4A5D6E"/>
            </a:solidFill>
            <a:prstDash val="solid"/>
          </a:ln>
        </p:spPr>
        <p:txBody>
          <a:bodyPr/>
          <a:lstStyle/>
          <a:p>
            <a:endParaRPr lang="nl-NL" sz="1525"/>
          </a:p>
        </p:txBody>
      </p:sp>
      <p:sp>
        <p:nvSpPr>
          <p:cNvPr id="3" name="Text 1"/>
          <p:cNvSpPr/>
          <p:nvPr/>
        </p:nvSpPr>
        <p:spPr>
          <a:xfrm>
            <a:off x="0" y="149"/>
            <a:ext cx="17610138" cy="660380"/>
          </a:xfrm>
          <a:prstGeom prst="rect">
            <a:avLst/>
          </a:prstGeom>
          <a:noFill/>
          <a:ln/>
        </p:spPr>
        <p:txBody>
          <a:bodyPr wrap="square" rtlCol="0" anchor="ctr"/>
          <a:lstStyle/>
          <a:p>
            <a:pPr algn="ctr"/>
            <a:r>
              <a:rPr lang="en-US" sz="1878" b="1" spc="289" dirty="0">
                <a:solidFill>
                  <a:srgbClr val="FFFFFF"/>
                </a:solidFill>
              </a:rPr>
              <a:t>IMPLEMENTATIE &amp; HAALBAARHEID</a:t>
            </a:r>
            <a:endParaRPr lang="en-US" sz="1878" dirty="0"/>
          </a:p>
        </p:txBody>
      </p:sp>
      <p:sp>
        <p:nvSpPr>
          <p:cNvPr id="4" name="Shape 2"/>
          <p:cNvSpPr/>
          <p:nvPr/>
        </p:nvSpPr>
        <p:spPr>
          <a:xfrm>
            <a:off x="264152" y="792605"/>
            <a:ext cx="4150489" cy="8849094"/>
          </a:xfrm>
          <a:prstGeom prst="rect">
            <a:avLst/>
          </a:prstGeom>
          <a:solidFill>
            <a:srgbClr val="F5F7FA"/>
          </a:solidFill>
          <a:ln w="12700">
            <a:solidFill>
              <a:srgbClr val="D0D8E4"/>
            </a:solidFill>
            <a:prstDash val="solid"/>
          </a:ln>
        </p:spPr>
        <p:txBody>
          <a:bodyPr/>
          <a:lstStyle/>
          <a:p>
            <a:endParaRPr lang="nl-NL" sz="1525"/>
          </a:p>
        </p:txBody>
      </p:sp>
      <p:sp>
        <p:nvSpPr>
          <p:cNvPr id="5" name="Text 3"/>
          <p:cNvSpPr/>
          <p:nvPr/>
        </p:nvSpPr>
        <p:spPr>
          <a:xfrm>
            <a:off x="462266" y="990719"/>
            <a:ext cx="3754261" cy="290567"/>
          </a:xfrm>
          <a:prstGeom prst="rect">
            <a:avLst/>
          </a:prstGeom>
          <a:noFill/>
          <a:ln/>
        </p:spPr>
        <p:txBody>
          <a:bodyPr wrap="square" rtlCol="0" anchor="t"/>
          <a:lstStyle/>
          <a:p>
            <a:r>
              <a:rPr lang="en-US" sz="1444" b="1" dirty="0">
                <a:solidFill>
                  <a:srgbClr val="12263A"/>
                </a:solidFill>
              </a:rPr>
              <a:t>Ethiek &amp; Privacy</a:t>
            </a:r>
            <a:endParaRPr lang="en-US" sz="1444" dirty="0"/>
          </a:p>
        </p:txBody>
      </p:sp>
      <p:sp>
        <p:nvSpPr>
          <p:cNvPr id="6" name="Text 4"/>
          <p:cNvSpPr/>
          <p:nvPr/>
        </p:nvSpPr>
        <p:spPr>
          <a:xfrm>
            <a:off x="462266" y="1307702"/>
            <a:ext cx="3754261" cy="224529"/>
          </a:xfrm>
          <a:prstGeom prst="rect">
            <a:avLst/>
          </a:prstGeom>
          <a:noFill/>
          <a:ln/>
        </p:spPr>
        <p:txBody>
          <a:bodyPr wrap="square" rtlCol="0" anchor="t"/>
          <a:lstStyle/>
          <a:p>
            <a:r>
              <a:rPr lang="en-US" sz="1083" i="1" dirty="0">
                <a:solidFill>
                  <a:srgbClr val="6B7D8F"/>
                </a:solidFill>
              </a:rPr>
              <a:t>Denk aan het volgende:</a:t>
            </a:r>
            <a:endParaRPr lang="en-US" sz="1083" dirty="0"/>
          </a:p>
        </p:txBody>
      </p:sp>
      <p:sp>
        <p:nvSpPr>
          <p:cNvPr id="7" name="Text 5"/>
          <p:cNvSpPr/>
          <p:nvPr/>
        </p:nvSpPr>
        <p:spPr>
          <a:xfrm>
            <a:off x="528304" y="1545438"/>
            <a:ext cx="3688223" cy="211322"/>
          </a:xfrm>
          <a:prstGeom prst="rect">
            <a:avLst/>
          </a:prstGeom>
          <a:noFill/>
          <a:ln/>
        </p:spPr>
        <p:txBody>
          <a:bodyPr wrap="square" rtlCol="0" anchor="t"/>
          <a:lstStyle/>
          <a:p>
            <a:r>
              <a:rPr lang="en-US" sz="1011" dirty="0">
                <a:solidFill>
                  <a:srgbClr val="6B7D8F"/>
                </a:solidFill>
              </a:rPr>
              <a:t>•  Is datagebruik AVG-conform?</a:t>
            </a:r>
            <a:endParaRPr lang="en-US" sz="1011" dirty="0"/>
          </a:p>
        </p:txBody>
      </p:sp>
      <p:sp>
        <p:nvSpPr>
          <p:cNvPr id="8" name="Text 6"/>
          <p:cNvSpPr/>
          <p:nvPr/>
        </p:nvSpPr>
        <p:spPr>
          <a:xfrm>
            <a:off x="528304" y="1756760"/>
            <a:ext cx="3688223" cy="211322"/>
          </a:xfrm>
          <a:prstGeom prst="rect">
            <a:avLst/>
          </a:prstGeom>
          <a:noFill/>
          <a:ln/>
        </p:spPr>
        <p:txBody>
          <a:bodyPr wrap="square" rtlCol="0" anchor="t"/>
          <a:lstStyle/>
          <a:p>
            <a:r>
              <a:rPr lang="en-US" sz="1011" dirty="0">
                <a:solidFill>
                  <a:srgbClr val="6B7D8F"/>
                </a:solidFill>
              </a:rPr>
              <a:t>•  Zijn gebruikers/sporters geinformeerd?</a:t>
            </a:r>
            <a:endParaRPr lang="en-US" sz="1011" dirty="0"/>
          </a:p>
        </p:txBody>
      </p:sp>
      <p:sp>
        <p:nvSpPr>
          <p:cNvPr id="9" name="Text 7"/>
          <p:cNvSpPr/>
          <p:nvPr/>
        </p:nvSpPr>
        <p:spPr>
          <a:xfrm>
            <a:off x="528304" y="1968082"/>
            <a:ext cx="3688223" cy="211322"/>
          </a:xfrm>
          <a:prstGeom prst="rect">
            <a:avLst/>
          </a:prstGeom>
          <a:noFill/>
          <a:ln/>
        </p:spPr>
        <p:txBody>
          <a:bodyPr wrap="square" rtlCol="0" anchor="t"/>
          <a:lstStyle/>
          <a:p>
            <a:r>
              <a:rPr lang="en-US" sz="1011" dirty="0">
                <a:solidFill>
                  <a:srgbClr val="6B7D8F"/>
                </a:solidFill>
              </a:rPr>
              <a:t>•  Zijn er fairness- of bias-risico's?</a:t>
            </a:r>
            <a:endParaRPr lang="en-US" sz="1011" dirty="0"/>
          </a:p>
        </p:txBody>
      </p:sp>
      <p:sp>
        <p:nvSpPr>
          <p:cNvPr id="10" name="Shape 8"/>
          <p:cNvSpPr/>
          <p:nvPr/>
        </p:nvSpPr>
        <p:spPr>
          <a:xfrm>
            <a:off x="462266" y="2258649"/>
            <a:ext cx="3754261" cy="26415"/>
          </a:xfrm>
          <a:prstGeom prst="rect">
            <a:avLst/>
          </a:prstGeom>
          <a:solidFill>
            <a:srgbClr val="D0D8E4"/>
          </a:solidFill>
          <a:ln w="12700">
            <a:solidFill>
              <a:srgbClr val="D0D8E4"/>
            </a:solidFill>
            <a:prstDash val="solid"/>
          </a:ln>
        </p:spPr>
        <p:txBody>
          <a:bodyPr/>
          <a:lstStyle/>
          <a:p>
            <a:endParaRPr lang="nl-NL" sz="1525"/>
          </a:p>
        </p:txBody>
      </p:sp>
      <p:sp>
        <p:nvSpPr>
          <p:cNvPr id="11" name="Text 9"/>
          <p:cNvSpPr/>
          <p:nvPr/>
        </p:nvSpPr>
        <p:spPr>
          <a:xfrm>
            <a:off x="462266" y="2377517"/>
            <a:ext cx="3754261" cy="7066068"/>
          </a:xfrm>
          <a:prstGeom prst="rect">
            <a:avLst/>
          </a:prstGeom>
          <a:noFill/>
          <a:ln/>
        </p:spPr>
        <p:txBody>
          <a:bodyPr wrap="square" rtlCol="0" anchor="t"/>
          <a:lstStyle/>
          <a:p>
            <a:r>
              <a:rPr lang="nl-NL" sz="1400" b="1" dirty="0"/>
              <a:t>AVG-conform datagebruik:</a:t>
            </a:r>
            <a:r>
              <a:rPr lang="nl-NL" sz="1400" dirty="0"/>
              <a:t> coach typt namen, observaties en soms </a:t>
            </a:r>
            <a:r>
              <a:rPr lang="nl-NL" sz="1400" dirty="0" err="1"/>
              <a:t>gezondheidsgerelateerde</a:t>
            </a:r>
            <a:r>
              <a:rPr lang="nl-NL" sz="1400" dirty="0"/>
              <a:t> info over sporters in. Persoonsgegeven, deels bijzondere persoonsgegevens. We maken expliciet welk model we gebruiken, waar data heen gaat, retentie, en of er op input getraind wordt. Voorkeur: hosting zonder training op input, minimale retentie. Sporters worden via coach/organisatie geïnformeerd; advies aan coach om geen identificeerbare gegevens te delen.</a:t>
            </a:r>
          </a:p>
          <a:p>
            <a:r>
              <a:rPr lang="nl-NL" sz="1400" b="1" dirty="0"/>
              <a:t>AI als pseudo-expert — risico:</a:t>
            </a:r>
            <a:r>
              <a:rPr lang="nl-NL" sz="1400" dirty="0"/>
              <a:t> coaches kunnen suggesties overnemen zonder kritische blik, vooral als ze al onzeker zijn. Mitigatie: framing in interface en system prompt — de tool stélt vragen, deelt overwegingen, géén diagnoses. </a:t>
            </a:r>
            <a:r>
              <a:rPr lang="nl-NL" sz="1400" dirty="0" err="1"/>
              <a:t>Disclaimers</a:t>
            </a:r>
            <a:r>
              <a:rPr lang="nl-NL" sz="1400" dirty="0"/>
              <a:t> ingebouwd; AI verwijst expliciet door naar sportarts/sportwetenschapper waar passend.</a:t>
            </a:r>
          </a:p>
          <a:p>
            <a:r>
              <a:rPr lang="nl-NL" sz="1400" b="1" dirty="0"/>
              <a:t>Bias in trainingscorpus:</a:t>
            </a:r>
            <a:r>
              <a:rPr lang="nl-NL" sz="1400" dirty="0"/>
              <a:t> sportwetenschap is historisch gericht op mannelijke topsport, westerse context, volwassen atleten. Talentontwikkeling raakt jongeren en in toenemende mate vrouwen — daar weten we minder over. Mitigatie: bewuste bronnenkeuze, expliciet markeren waar bewijs dun is, AI conservatief afstellen op claims rond vrouwen en jongeren.</a:t>
            </a:r>
          </a:p>
          <a:p>
            <a:endParaRPr lang="en-US" sz="1228" dirty="0"/>
          </a:p>
        </p:txBody>
      </p:sp>
      <p:sp>
        <p:nvSpPr>
          <p:cNvPr id="12" name="Shape 10"/>
          <p:cNvSpPr/>
          <p:nvPr/>
        </p:nvSpPr>
        <p:spPr>
          <a:xfrm>
            <a:off x="4573133" y="792605"/>
            <a:ext cx="4150489" cy="8849094"/>
          </a:xfrm>
          <a:prstGeom prst="rect">
            <a:avLst/>
          </a:prstGeom>
          <a:solidFill>
            <a:srgbClr val="F5F7FA"/>
          </a:solidFill>
          <a:ln w="12700">
            <a:solidFill>
              <a:srgbClr val="D0D8E4"/>
            </a:solidFill>
            <a:prstDash val="solid"/>
          </a:ln>
        </p:spPr>
        <p:txBody>
          <a:bodyPr/>
          <a:lstStyle/>
          <a:p>
            <a:endParaRPr lang="nl-NL" sz="1525" dirty="0"/>
          </a:p>
        </p:txBody>
      </p:sp>
      <p:sp>
        <p:nvSpPr>
          <p:cNvPr id="13" name="Text 11"/>
          <p:cNvSpPr/>
          <p:nvPr/>
        </p:nvSpPr>
        <p:spPr>
          <a:xfrm>
            <a:off x="4771247" y="990719"/>
            <a:ext cx="3754261" cy="290567"/>
          </a:xfrm>
          <a:prstGeom prst="rect">
            <a:avLst/>
          </a:prstGeom>
          <a:noFill/>
          <a:ln/>
        </p:spPr>
        <p:txBody>
          <a:bodyPr wrap="square" rtlCol="0" anchor="t"/>
          <a:lstStyle/>
          <a:p>
            <a:r>
              <a:rPr lang="en-US" sz="1444" b="1" dirty="0">
                <a:solidFill>
                  <a:srgbClr val="12263A"/>
                </a:solidFill>
              </a:rPr>
              <a:t>Kritische Aannames</a:t>
            </a:r>
            <a:endParaRPr lang="en-US" sz="1444" dirty="0"/>
          </a:p>
        </p:txBody>
      </p:sp>
      <p:sp>
        <p:nvSpPr>
          <p:cNvPr id="14" name="Text 12"/>
          <p:cNvSpPr/>
          <p:nvPr/>
        </p:nvSpPr>
        <p:spPr>
          <a:xfrm>
            <a:off x="4771247" y="1307702"/>
            <a:ext cx="3754261" cy="224529"/>
          </a:xfrm>
          <a:prstGeom prst="rect">
            <a:avLst/>
          </a:prstGeom>
          <a:noFill/>
          <a:ln/>
        </p:spPr>
        <p:txBody>
          <a:bodyPr wrap="square" rtlCol="0" anchor="t"/>
          <a:lstStyle/>
          <a:p>
            <a:r>
              <a:rPr lang="en-US" sz="1083" i="1" dirty="0">
                <a:solidFill>
                  <a:srgbClr val="6B7D8F"/>
                </a:solidFill>
              </a:rPr>
              <a:t>Denk aan het volgende:</a:t>
            </a:r>
            <a:endParaRPr lang="en-US" sz="1083" dirty="0"/>
          </a:p>
        </p:txBody>
      </p:sp>
      <p:sp>
        <p:nvSpPr>
          <p:cNvPr id="15" name="Text 13"/>
          <p:cNvSpPr/>
          <p:nvPr/>
        </p:nvSpPr>
        <p:spPr>
          <a:xfrm>
            <a:off x="4837285" y="1545438"/>
            <a:ext cx="3688223" cy="211322"/>
          </a:xfrm>
          <a:prstGeom prst="rect">
            <a:avLst/>
          </a:prstGeom>
          <a:noFill/>
          <a:ln/>
        </p:spPr>
        <p:txBody>
          <a:bodyPr wrap="square" rtlCol="0" anchor="t"/>
          <a:lstStyle/>
          <a:p>
            <a:r>
              <a:rPr lang="en-US" sz="1011" dirty="0">
                <a:solidFill>
                  <a:srgbClr val="6B7D8F"/>
                </a:solidFill>
              </a:rPr>
              <a:t>•  Welke aanname moet kloppen voor succes?</a:t>
            </a:r>
            <a:endParaRPr lang="en-US" sz="1011" dirty="0"/>
          </a:p>
        </p:txBody>
      </p:sp>
      <p:sp>
        <p:nvSpPr>
          <p:cNvPr id="16" name="Text 14"/>
          <p:cNvSpPr/>
          <p:nvPr/>
        </p:nvSpPr>
        <p:spPr>
          <a:xfrm>
            <a:off x="4837285" y="1756760"/>
            <a:ext cx="3688223" cy="211322"/>
          </a:xfrm>
          <a:prstGeom prst="rect">
            <a:avLst/>
          </a:prstGeom>
          <a:noFill/>
          <a:ln/>
        </p:spPr>
        <p:txBody>
          <a:bodyPr wrap="square" rtlCol="0" anchor="t"/>
          <a:lstStyle/>
          <a:p>
            <a:r>
              <a:rPr lang="en-US" sz="1011" dirty="0">
                <a:solidFill>
                  <a:srgbClr val="6B7D8F"/>
                </a:solidFill>
              </a:rPr>
              <a:t>•  Wat is de grootste onzekerheid?</a:t>
            </a:r>
            <a:endParaRPr lang="en-US" sz="1011" dirty="0"/>
          </a:p>
        </p:txBody>
      </p:sp>
      <p:sp>
        <p:nvSpPr>
          <p:cNvPr id="17" name="Text 15"/>
          <p:cNvSpPr/>
          <p:nvPr/>
        </p:nvSpPr>
        <p:spPr>
          <a:xfrm>
            <a:off x="4837285" y="1968082"/>
            <a:ext cx="3688223" cy="211322"/>
          </a:xfrm>
          <a:prstGeom prst="rect">
            <a:avLst/>
          </a:prstGeom>
          <a:noFill/>
          <a:ln/>
        </p:spPr>
        <p:txBody>
          <a:bodyPr wrap="square" rtlCol="0" anchor="t"/>
          <a:lstStyle/>
          <a:p>
            <a:r>
              <a:rPr lang="en-US" sz="1011" dirty="0">
                <a:solidFill>
                  <a:srgbClr val="6B7D8F"/>
                </a:solidFill>
              </a:rPr>
              <a:t>•  Hoe ga je dit valideren of testen?</a:t>
            </a:r>
            <a:endParaRPr lang="en-US" sz="1011" dirty="0"/>
          </a:p>
        </p:txBody>
      </p:sp>
      <p:sp>
        <p:nvSpPr>
          <p:cNvPr id="18" name="Shape 16"/>
          <p:cNvSpPr/>
          <p:nvPr/>
        </p:nvSpPr>
        <p:spPr>
          <a:xfrm>
            <a:off x="4771247" y="2258649"/>
            <a:ext cx="3754261" cy="26415"/>
          </a:xfrm>
          <a:prstGeom prst="rect">
            <a:avLst/>
          </a:prstGeom>
          <a:solidFill>
            <a:srgbClr val="D0D8E4"/>
          </a:solidFill>
          <a:ln w="12700">
            <a:solidFill>
              <a:srgbClr val="D0D8E4"/>
            </a:solidFill>
            <a:prstDash val="solid"/>
          </a:ln>
        </p:spPr>
        <p:txBody>
          <a:bodyPr/>
          <a:lstStyle/>
          <a:p>
            <a:endParaRPr lang="nl-NL" sz="1525"/>
          </a:p>
        </p:txBody>
      </p:sp>
      <p:sp>
        <p:nvSpPr>
          <p:cNvPr id="19" name="Text 17"/>
          <p:cNvSpPr/>
          <p:nvPr/>
        </p:nvSpPr>
        <p:spPr>
          <a:xfrm>
            <a:off x="4771247" y="2377517"/>
            <a:ext cx="3754261" cy="7066068"/>
          </a:xfrm>
          <a:prstGeom prst="rect">
            <a:avLst/>
          </a:prstGeom>
          <a:noFill/>
          <a:ln/>
        </p:spPr>
        <p:txBody>
          <a:bodyPr wrap="square" rtlCol="0" anchor="t"/>
          <a:lstStyle/>
          <a:p>
            <a:r>
              <a:rPr lang="nl-NL" sz="1400" b="1" dirty="0"/>
              <a:t>Aannames die moeten kloppen:</a:t>
            </a:r>
            <a:endParaRPr lang="nl-NL" sz="1400" dirty="0"/>
          </a:p>
          <a:p>
            <a:r>
              <a:rPr lang="nl-NL" sz="1400" dirty="0"/>
              <a:t>Coaches gebruiken een AI-</a:t>
            </a:r>
            <a:r>
              <a:rPr lang="nl-NL" sz="1400" dirty="0" err="1"/>
              <a:t>chatbot</a:t>
            </a:r>
            <a:r>
              <a:rPr lang="nl-NL" sz="1400" dirty="0"/>
              <a:t> ad-hoc als ze ergens tegenaan lopen.</a:t>
            </a:r>
          </a:p>
          <a:p>
            <a:r>
              <a:rPr lang="nl-NL" sz="1400" dirty="0"/>
              <a:t>De gesprekskwaliteit van een goed-getunede </a:t>
            </a:r>
            <a:r>
              <a:rPr lang="nl-NL" sz="1400" dirty="0" err="1"/>
              <a:t>chatbot</a:t>
            </a:r>
            <a:r>
              <a:rPr lang="nl-NL" sz="1400" dirty="0"/>
              <a:t> levert genoeg waarde — zonder dat we Niveau 2 nodig hebben.</a:t>
            </a:r>
          </a:p>
          <a:p>
            <a:r>
              <a:rPr lang="nl-NL" sz="1400" dirty="0"/>
              <a:t>Een platformonafhankelijke tool naast </a:t>
            </a:r>
            <a:r>
              <a:rPr lang="nl-NL" sz="1400" dirty="0" err="1"/>
              <a:t>Smartabase</a:t>
            </a:r>
            <a:r>
              <a:rPr lang="nl-NL" sz="1400" dirty="0"/>
              <a:t>/SDV is werkbaar.</a:t>
            </a:r>
          </a:p>
          <a:p>
            <a:r>
              <a:rPr lang="nl-NL" sz="1400" dirty="0"/>
              <a:t>De </a:t>
            </a:r>
            <a:r>
              <a:rPr lang="nl-NL" sz="1400" dirty="0" err="1"/>
              <a:t>kennislaag</a:t>
            </a:r>
            <a:r>
              <a:rPr lang="nl-NL" sz="1400" dirty="0"/>
              <a:t> is op te bouwen op een manier die hallucinaties beperkt.</a:t>
            </a:r>
          </a:p>
          <a:p>
            <a:r>
              <a:rPr lang="nl-NL" sz="1400" dirty="0"/>
              <a:t>Coaches accepteren "geen pasklaar antwoord" als legitieme uitkomst — cultureel niet-triviaal.</a:t>
            </a:r>
          </a:p>
          <a:p>
            <a:r>
              <a:rPr lang="nl-NL" sz="1400" b="1" dirty="0"/>
              <a:t>Grootste onzekerheden:</a:t>
            </a:r>
            <a:r>
              <a:rPr lang="nl-NL" sz="1400" dirty="0"/>
              <a:t> of coaches de tool meer dan één keer openen (adoptie); of de inhoudelijke kwaliteit hoog genoeg is om de eerste gesprekken niet meteen te ontkrachten; of "ad-hoc gebruik" een werkbaar gebruikspatroon is.</a:t>
            </a:r>
          </a:p>
          <a:p>
            <a:r>
              <a:rPr lang="nl-NL" sz="1400" b="1" dirty="0"/>
              <a:t>Hoe valideren — eerlijke stand:</a:t>
            </a:r>
            <a:r>
              <a:rPr lang="nl-NL" sz="1400" dirty="0"/>
              <a:t> we worstelen hier nog mee. Huidige denkrichting: kwalitatieve evaluatie via diepte-interviews met een kleine groep coaches na 8-12 weken gebruik, plus gespreks-</a:t>
            </a:r>
            <a:r>
              <a:rPr lang="nl-NL" sz="1400" dirty="0" err="1"/>
              <a:t>logging</a:t>
            </a:r>
            <a:r>
              <a:rPr lang="nl-NL" sz="1400" dirty="0"/>
              <a:t> om patronen zichtbaar te maken. Open vragen: hoe groot moet de testgroep zijn? Hoe vermijden we selectie-bias? Willen we ook bij sporters meten? Feedback uit het Lab is welkom.</a:t>
            </a:r>
          </a:p>
          <a:p>
            <a:endParaRPr lang="en-US" sz="1228" dirty="0"/>
          </a:p>
        </p:txBody>
      </p:sp>
      <p:sp>
        <p:nvSpPr>
          <p:cNvPr id="20" name="Shape 18"/>
          <p:cNvSpPr/>
          <p:nvPr/>
        </p:nvSpPr>
        <p:spPr>
          <a:xfrm>
            <a:off x="8882113" y="792605"/>
            <a:ext cx="4150489" cy="8849094"/>
          </a:xfrm>
          <a:prstGeom prst="rect">
            <a:avLst/>
          </a:prstGeom>
          <a:solidFill>
            <a:srgbClr val="F5F7FA"/>
          </a:solidFill>
          <a:ln w="12700">
            <a:solidFill>
              <a:srgbClr val="D0D8E4"/>
            </a:solidFill>
            <a:prstDash val="solid"/>
          </a:ln>
        </p:spPr>
        <p:txBody>
          <a:bodyPr/>
          <a:lstStyle/>
          <a:p>
            <a:endParaRPr lang="nl-NL" sz="1525"/>
          </a:p>
        </p:txBody>
      </p:sp>
      <p:sp>
        <p:nvSpPr>
          <p:cNvPr id="21" name="Text 19"/>
          <p:cNvSpPr/>
          <p:nvPr/>
        </p:nvSpPr>
        <p:spPr>
          <a:xfrm>
            <a:off x="9080227" y="990719"/>
            <a:ext cx="3754261" cy="290567"/>
          </a:xfrm>
          <a:prstGeom prst="rect">
            <a:avLst/>
          </a:prstGeom>
          <a:noFill/>
          <a:ln/>
        </p:spPr>
        <p:txBody>
          <a:bodyPr wrap="square" rtlCol="0" anchor="t"/>
          <a:lstStyle/>
          <a:p>
            <a:r>
              <a:rPr lang="en-US" sz="1444" b="1" dirty="0">
                <a:solidFill>
                  <a:srgbClr val="12263A"/>
                </a:solidFill>
              </a:rPr>
              <a:t>Succes-metrics</a:t>
            </a:r>
            <a:endParaRPr lang="en-US" sz="1444" dirty="0"/>
          </a:p>
        </p:txBody>
      </p:sp>
      <p:sp>
        <p:nvSpPr>
          <p:cNvPr id="22" name="Text 20"/>
          <p:cNvSpPr/>
          <p:nvPr/>
        </p:nvSpPr>
        <p:spPr>
          <a:xfrm>
            <a:off x="9080227" y="1307702"/>
            <a:ext cx="3754261" cy="224529"/>
          </a:xfrm>
          <a:prstGeom prst="rect">
            <a:avLst/>
          </a:prstGeom>
          <a:noFill/>
          <a:ln/>
        </p:spPr>
        <p:txBody>
          <a:bodyPr wrap="square" rtlCol="0" anchor="t"/>
          <a:lstStyle/>
          <a:p>
            <a:r>
              <a:rPr lang="en-US" sz="1083" i="1" dirty="0">
                <a:solidFill>
                  <a:srgbClr val="6B7D8F"/>
                </a:solidFill>
              </a:rPr>
              <a:t>Denk aan het volgende:</a:t>
            </a:r>
            <a:endParaRPr lang="en-US" sz="1083" dirty="0"/>
          </a:p>
        </p:txBody>
      </p:sp>
      <p:sp>
        <p:nvSpPr>
          <p:cNvPr id="23" name="Text 21"/>
          <p:cNvSpPr/>
          <p:nvPr/>
        </p:nvSpPr>
        <p:spPr>
          <a:xfrm>
            <a:off x="9146266" y="1545438"/>
            <a:ext cx="3688223" cy="211322"/>
          </a:xfrm>
          <a:prstGeom prst="rect">
            <a:avLst/>
          </a:prstGeom>
          <a:noFill/>
          <a:ln/>
        </p:spPr>
        <p:txBody>
          <a:bodyPr wrap="square" rtlCol="0" anchor="t"/>
          <a:lstStyle/>
          <a:p>
            <a:r>
              <a:rPr lang="en-US" sz="1011" dirty="0">
                <a:solidFill>
                  <a:srgbClr val="6B7D8F"/>
                </a:solidFill>
              </a:rPr>
              <a:t>•  Hoe meet je succes? Welke KPI's gebruik je?</a:t>
            </a:r>
            <a:endParaRPr lang="en-US" sz="1011" dirty="0"/>
          </a:p>
        </p:txBody>
      </p:sp>
      <p:sp>
        <p:nvSpPr>
          <p:cNvPr id="24" name="Text 22"/>
          <p:cNvSpPr/>
          <p:nvPr/>
        </p:nvSpPr>
        <p:spPr>
          <a:xfrm>
            <a:off x="9146266" y="1756760"/>
            <a:ext cx="3688223" cy="211322"/>
          </a:xfrm>
          <a:prstGeom prst="rect">
            <a:avLst/>
          </a:prstGeom>
          <a:noFill/>
          <a:ln/>
        </p:spPr>
        <p:txBody>
          <a:bodyPr wrap="square" rtlCol="0" anchor="t"/>
          <a:lstStyle/>
          <a:p>
            <a:r>
              <a:rPr lang="en-US" sz="1011" dirty="0">
                <a:solidFill>
                  <a:srgbClr val="6B7D8F"/>
                </a:solidFill>
              </a:rPr>
              <a:t>•  Wat is de minimale verbetering die het waard maakt?</a:t>
            </a:r>
            <a:endParaRPr lang="en-US" sz="1011" dirty="0"/>
          </a:p>
        </p:txBody>
      </p:sp>
      <p:sp>
        <p:nvSpPr>
          <p:cNvPr id="25" name="Text 23"/>
          <p:cNvSpPr/>
          <p:nvPr/>
        </p:nvSpPr>
        <p:spPr>
          <a:xfrm>
            <a:off x="9146266" y="1968082"/>
            <a:ext cx="3688223" cy="211322"/>
          </a:xfrm>
          <a:prstGeom prst="rect">
            <a:avLst/>
          </a:prstGeom>
          <a:noFill/>
          <a:ln/>
        </p:spPr>
        <p:txBody>
          <a:bodyPr wrap="square" rtlCol="0" anchor="t"/>
          <a:lstStyle/>
          <a:p>
            <a:r>
              <a:rPr lang="en-US" sz="1011" dirty="0">
                <a:solidFill>
                  <a:srgbClr val="6B7D8F"/>
                </a:solidFill>
              </a:rPr>
              <a:t>•  Wanneer stop je of schaal je op?</a:t>
            </a:r>
            <a:endParaRPr lang="en-US" sz="1011" dirty="0"/>
          </a:p>
        </p:txBody>
      </p:sp>
      <p:sp>
        <p:nvSpPr>
          <p:cNvPr id="26" name="Shape 24"/>
          <p:cNvSpPr/>
          <p:nvPr/>
        </p:nvSpPr>
        <p:spPr>
          <a:xfrm>
            <a:off x="9080227" y="2258649"/>
            <a:ext cx="3754261" cy="26415"/>
          </a:xfrm>
          <a:prstGeom prst="rect">
            <a:avLst/>
          </a:prstGeom>
          <a:solidFill>
            <a:srgbClr val="D0D8E4"/>
          </a:solidFill>
          <a:ln w="12700">
            <a:solidFill>
              <a:srgbClr val="D0D8E4"/>
            </a:solidFill>
            <a:prstDash val="solid"/>
          </a:ln>
        </p:spPr>
        <p:txBody>
          <a:bodyPr/>
          <a:lstStyle/>
          <a:p>
            <a:endParaRPr lang="nl-NL" sz="1525"/>
          </a:p>
        </p:txBody>
      </p:sp>
      <p:sp>
        <p:nvSpPr>
          <p:cNvPr id="27" name="Text 25"/>
          <p:cNvSpPr/>
          <p:nvPr/>
        </p:nvSpPr>
        <p:spPr>
          <a:xfrm>
            <a:off x="9080227" y="2377517"/>
            <a:ext cx="3754261" cy="7066068"/>
          </a:xfrm>
          <a:prstGeom prst="rect">
            <a:avLst/>
          </a:prstGeom>
          <a:noFill/>
          <a:ln/>
        </p:spPr>
        <p:txBody>
          <a:bodyPr wrap="square" rtlCol="0" anchor="t"/>
          <a:lstStyle/>
          <a:p>
            <a:r>
              <a:rPr lang="nl-NL" sz="1400" b="1" dirty="0"/>
              <a:t>Hoe meten — primair kwalitatief:</a:t>
            </a:r>
            <a:r>
              <a:rPr lang="nl-NL" sz="1400" dirty="0"/>
              <a:t> coaches rapporteren in interviews dat ze (a) hun monitoringdata effectiever gebruiken, (b) betere vragen stellen aan sporters, (c) zich gesteund voelen in hun denkproces. Coaches kunnen concrete voorbeelden noemen waarbij de </a:t>
            </a:r>
            <a:r>
              <a:rPr lang="nl-NL" sz="1400" dirty="0" err="1"/>
              <a:t>chatbot</a:t>
            </a:r>
            <a:r>
              <a:rPr lang="nl-NL" sz="1400" dirty="0"/>
              <a:t> tot een vervolgactie leidde. </a:t>
            </a:r>
            <a:r>
              <a:rPr lang="nl-NL" sz="1400" dirty="0" err="1"/>
              <a:t>Logging</a:t>
            </a:r>
            <a:r>
              <a:rPr lang="nl-NL" sz="1400" dirty="0"/>
              <a:t> toont diversiteit aan onderwerpen en herhaald gebruik.</a:t>
            </a:r>
          </a:p>
          <a:p>
            <a:r>
              <a:rPr lang="nl-NL" sz="1400" b="1" dirty="0"/>
              <a:t>Aanvullend kwantitatief:</a:t>
            </a:r>
            <a:r>
              <a:rPr lang="nl-NL" sz="1400" dirty="0"/>
              <a:t> aantal actieve gebruikers en sessies per coach over tijd. Sporter-feedback: krijgen zij meer/betere terugkoppeling op hun monitoring-input?</a:t>
            </a:r>
          </a:p>
          <a:p>
            <a:r>
              <a:rPr lang="nl-NL" sz="1400" b="1" dirty="0"/>
              <a:t>Minimaal succes:</a:t>
            </a:r>
            <a:r>
              <a:rPr lang="nl-NL" sz="1400" dirty="0"/>
              <a:t> 60-70% van de testcoaches kan in interview benoemen wat de tool concreet voor ze deed. Minimaal de helft wil hem na de pilot blijven gebruiken.</a:t>
            </a:r>
          </a:p>
          <a:p>
            <a:r>
              <a:rPr lang="nl-NL" sz="1400" b="1" dirty="0"/>
              <a:t>Stoppen / opschalen:</a:t>
            </a:r>
            <a:r>
              <a:rPr lang="nl-NL" sz="1400" dirty="0"/>
              <a:t> stoppen als coaches na 4-6 weken nauwelijks terugkomen of de inhoudelijke kwaliteit onvoldoende vinden. </a:t>
            </a:r>
            <a:r>
              <a:rPr lang="nl-NL" sz="1400" dirty="0" err="1"/>
              <a:t>Doorontwikkelen</a:t>
            </a:r>
            <a:r>
              <a:rPr lang="nl-NL" sz="1400" dirty="0"/>
              <a:t> als de pilot positief wordt geëvalueerd en externe partijen (bonden, </a:t>
            </a:r>
            <a:r>
              <a:rPr lang="nl-NL" sz="1400" dirty="0" err="1"/>
              <a:t>RTC's</a:t>
            </a:r>
            <a:r>
              <a:rPr lang="nl-NL" sz="1400" dirty="0"/>
              <a:t>, </a:t>
            </a:r>
            <a:r>
              <a:rPr lang="nl-NL" sz="1400" dirty="0" err="1"/>
              <a:t>CoachWell</a:t>
            </a:r>
            <a:r>
              <a:rPr lang="nl-NL" sz="1400" dirty="0"/>
              <a:t>-consortium) het willen oppakken.</a:t>
            </a:r>
          </a:p>
          <a:p>
            <a:r>
              <a:rPr lang="nl-NL" sz="1400" b="1" dirty="0"/>
              <a:t>Eerlijke noot:</a:t>
            </a:r>
            <a:r>
              <a:rPr lang="nl-NL" sz="1400" dirty="0"/>
              <a:t> dit is het zwakste vakje van ons canvas. We willen impact en het toetsbaar maken, maar de meetstrategie staat nog niet. Het Lab kan ons helpen dit scherper te krijgen.</a:t>
            </a:r>
          </a:p>
          <a:p>
            <a:endParaRPr lang="en-US" sz="1228" dirty="0"/>
          </a:p>
        </p:txBody>
      </p:sp>
      <p:sp>
        <p:nvSpPr>
          <p:cNvPr id="28" name="Shape 26"/>
          <p:cNvSpPr/>
          <p:nvPr/>
        </p:nvSpPr>
        <p:spPr>
          <a:xfrm>
            <a:off x="13191094" y="792605"/>
            <a:ext cx="4150489" cy="8849094"/>
          </a:xfrm>
          <a:prstGeom prst="rect">
            <a:avLst/>
          </a:prstGeom>
          <a:solidFill>
            <a:srgbClr val="F5F7FA"/>
          </a:solidFill>
          <a:ln w="12700">
            <a:solidFill>
              <a:srgbClr val="D0D8E4"/>
            </a:solidFill>
            <a:prstDash val="solid"/>
          </a:ln>
        </p:spPr>
        <p:txBody>
          <a:bodyPr/>
          <a:lstStyle/>
          <a:p>
            <a:endParaRPr lang="nl-NL" sz="1525"/>
          </a:p>
        </p:txBody>
      </p:sp>
      <p:sp>
        <p:nvSpPr>
          <p:cNvPr id="29" name="Text 27"/>
          <p:cNvSpPr/>
          <p:nvPr/>
        </p:nvSpPr>
        <p:spPr>
          <a:xfrm>
            <a:off x="13389208" y="990719"/>
            <a:ext cx="3754261" cy="290567"/>
          </a:xfrm>
          <a:prstGeom prst="rect">
            <a:avLst/>
          </a:prstGeom>
          <a:noFill/>
          <a:ln/>
        </p:spPr>
        <p:txBody>
          <a:bodyPr wrap="square" rtlCol="0" anchor="t"/>
          <a:lstStyle/>
          <a:p>
            <a:r>
              <a:rPr lang="en-US" sz="1444" b="1" dirty="0">
                <a:solidFill>
                  <a:srgbClr val="12263A"/>
                </a:solidFill>
              </a:rPr>
              <a:t>Tijdlijn &amp; Team</a:t>
            </a:r>
            <a:endParaRPr lang="en-US" sz="1444" dirty="0"/>
          </a:p>
        </p:txBody>
      </p:sp>
      <p:sp>
        <p:nvSpPr>
          <p:cNvPr id="30" name="Text 28"/>
          <p:cNvSpPr/>
          <p:nvPr/>
        </p:nvSpPr>
        <p:spPr>
          <a:xfrm>
            <a:off x="13389208" y="1307702"/>
            <a:ext cx="3754261" cy="224529"/>
          </a:xfrm>
          <a:prstGeom prst="rect">
            <a:avLst/>
          </a:prstGeom>
          <a:noFill/>
          <a:ln/>
        </p:spPr>
        <p:txBody>
          <a:bodyPr wrap="square" rtlCol="0" anchor="t"/>
          <a:lstStyle/>
          <a:p>
            <a:r>
              <a:rPr lang="en-US" sz="1083" i="1" dirty="0">
                <a:solidFill>
                  <a:srgbClr val="6B7D8F"/>
                </a:solidFill>
              </a:rPr>
              <a:t>Denk aan het volgende:</a:t>
            </a:r>
            <a:endParaRPr lang="en-US" sz="1083" dirty="0"/>
          </a:p>
        </p:txBody>
      </p:sp>
      <p:sp>
        <p:nvSpPr>
          <p:cNvPr id="31" name="Text 29"/>
          <p:cNvSpPr/>
          <p:nvPr/>
        </p:nvSpPr>
        <p:spPr>
          <a:xfrm>
            <a:off x="13455246" y="1545438"/>
            <a:ext cx="3688223" cy="211322"/>
          </a:xfrm>
          <a:prstGeom prst="rect">
            <a:avLst/>
          </a:prstGeom>
          <a:noFill/>
          <a:ln/>
        </p:spPr>
        <p:txBody>
          <a:bodyPr wrap="square" rtlCol="0" anchor="t"/>
          <a:lstStyle/>
          <a:p>
            <a:r>
              <a:rPr lang="en-US" sz="1011" dirty="0">
                <a:solidFill>
                  <a:srgbClr val="6B7D8F"/>
                </a:solidFill>
              </a:rPr>
              <a:t>•  Wanneer wil je de eerste versie gereed hebben?</a:t>
            </a:r>
            <a:endParaRPr lang="en-US" sz="1011" dirty="0"/>
          </a:p>
        </p:txBody>
      </p:sp>
      <p:sp>
        <p:nvSpPr>
          <p:cNvPr id="32" name="Text 30"/>
          <p:cNvSpPr/>
          <p:nvPr/>
        </p:nvSpPr>
        <p:spPr>
          <a:xfrm>
            <a:off x="13455246" y="1756760"/>
            <a:ext cx="3688223" cy="211322"/>
          </a:xfrm>
          <a:prstGeom prst="rect">
            <a:avLst/>
          </a:prstGeom>
          <a:noFill/>
          <a:ln/>
        </p:spPr>
        <p:txBody>
          <a:bodyPr wrap="square" rtlCol="0" anchor="t"/>
          <a:lstStyle/>
          <a:p>
            <a:r>
              <a:rPr lang="en-US" sz="1011" dirty="0">
                <a:solidFill>
                  <a:srgbClr val="6B7D8F"/>
                </a:solidFill>
              </a:rPr>
              <a:t>•  Wie is er nodig? (data, techniek, domeinkennis)</a:t>
            </a:r>
            <a:endParaRPr lang="en-US" sz="1011" dirty="0"/>
          </a:p>
        </p:txBody>
      </p:sp>
      <p:sp>
        <p:nvSpPr>
          <p:cNvPr id="33" name="Text 31"/>
          <p:cNvSpPr/>
          <p:nvPr/>
        </p:nvSpPr>
        <p:spPr>
          <a:xfrm>
            <a:off x="13455246" y="1968082"/>
            <a:ext cx="3688223" cy="211322"/>
          </a:xfrm>
          <a:prstGeom prst="rect">
            <a:avLst/>
          </a:prstGeom>
          <a:noFill/>
          <a:ln/>
        </p:spPr>
        <p:txBody>
          <a:bodyPr wrap="square" rtlCol="0" anchor="t"/>
          <a:lstStyle/>
          <a:p>
            <a:r>
              <a:rPr lang="en-US" sz="1011" dirty="0">
                <a:solidFill>
                  <a:srgbClr val="6B7D8F"/>
                </a:solidFill>
              </a:rPr>
              <a:t>•  Wat zijn de eerste concrete stappen?</a:t>
            </a:r>
            <a:endParaRPr lang="en-US" sz="1011" dirty="0"/>
          </a:p>
        </p:txBody>
      </p:sp>
      <p:sp>
        <p:nvSpPr>
          <p:cNvPr id="34" name="Shape 32"/>
          <p:cNvSpPr/>
          <p:nvPr/>
        </p:nvSpPr>
        <p:spPr>
          <a:xfrm>
            <a:off x="13389208" y="2258649"/>
            <a:ext cx="3754261" cy="26415"/>
          </a:xfrm>
          <a:prstGeom prst="rect">
            <a:avLst/>
          </a:prstGeom>
          <a:solidFill>
            <a:srgbClr val="D0D8E4"/>
          </a:solidFill>
          <a:ln w="12700">
            <a:solidFill>
              <a:srgbClr val="D0D8E4"/>
            </a:solidFill>
            <a:prstDash val="solid"/>
          </a:ln>
        </p:spPr>
        <p:txBody>
          <a:bodyPr/>
          <a:lstStyle/>
          <a:p>
            <a:endParaRPr lang="nl-NL" sz="1525"/>
          </a:p>
        </p:txBody>
      </p:sp>
      <p:sp>
        <p:nvSpPr>
          <p:cNvPr id="35" name="Text 33"/>
          <p:cNvSpPr/>
          <p:nvPr/>
        </p:nvSpPr>
        <p:spPr>
          <a:xfrm>
            <a:off x="13389208" y="2377517"/>
            <a:ext cx="3754261" cy="7066068"/>
          </a:xfrm>
          <a:prstGeom prst="rect">
            <a:avLst/>
          </a:prstGeom>
          <a:noFill/>
          <a:ln/>
        </p:spPr>
        <p:txBody>
          <a:bodyPr wrap="square" rtlCol="0" anchor="t"/>
          <a:lstStyle/>
          <a:p>
            <a:r>
              <a:rPr lang="nl-NL" sz="1400" b="1" dirty="0"/>
              <a:t>Tijdlijn (binnen Lab-cyclus):</a:t>
            </a:r>
            <a:endParaRPr lang="nl-NL" sz="1400" dirty="0"/>
          </a:p>
          <a:p>
            <a:r>
              <a:rPr lang="nl-NL" sz="1400" dirty="0"/>
              <a:t>Week 1-3: casus scherp, </a:t>
            </a:r>
            <a:r>
              <a:rPr lang="nl-NL" sz="1400" dirty="0" err="1"/>
              <a:t>kennislaag</a:t>
            </a:r>
            <a:r>
              <a:rPr lang="nl-NL" sz="1400" dirty="0"/>
              <a:t> inrichten, prompt engineering basis.</a:t>
            </a:r>
          </a:p>
          <a:p>
            <a:r>
              <a:rPr lang="nl-NL" sz="1400" dirty="0"/>
              <a:t>Week 4-6: werkende prototype-</a:t>
            </a:r>
            <a:r>
              <a:rPr lang="nl-NL" sz="1400" dirty="0" err="1"/>
              <a:t>chatbot</a:t>
            </a:r>
            <a:r>
              <a:rPr lang="nl-NL" sz="1400" dirty="0"/>
              <a:t>, eerste interne testen ("</a:t>
            </a:r>
            <a:r>
              <a:rPr lang="nl-NL" sz="1400" dirty="0" err="1"/>
              <a:t>dogfood</a:t>
            </a:r>
            <a:r>
              <a:rPr lang="nl-NL" sz="1400" dirty="0"/>
              <a:t>").</a:t>
            </a:r>
          </a:p>
          <a:p>
            <a:r>
              <a:rPr lang="nl-NL" sz="1400" dirty="0"/>
              <a:t>Week 7-10: pilot met 5-10 talentcoaches, kwalitatieve data verzamelen.</a:t>
            </a:r>
          </a:p>
          <a:p>
            <a:r>
              <a:rPr lang="nl-NL" sz="1400" dirty="0"/>
              <a:t>Week 11-12: evaluatie, rapportage, beslissing over doorontwikkeling.</a:t>
            </a:r>
          </a:p>
          <a:p>
            <a:r>
              <a:rPr lang="nl-NL" sz="1400" b="1" dirty="0"/>
              <a:t>Team — wie hebben we nodig:</a:t>
            </a:r>
            <a:r>
              <a:rPr lang="nl-NL" sz="1400" dirty="0"/>
              <a:t> domeinkennis sportmonitoring (lectoraat). Onderwijs- en </a:t>
            </a:r>
            <a:r>
              <a:rPr lang="nl-NL" sz="1400" dirty="0" err="1"/>
              <a:t>coachingscontext</a:t>
            </a:r>
            <a:r>
              <a:rPr lang="nl-NL" sz="1400" dirty="0"/>
              <a:t> (</a:t>
            </a:r>
            <a:r>
              <a:rPr lang="nl-NL" sz="1400" dirty="0" err="1"/>
              <a:t>RTC's</a:t>
            </a:r>
            <a:r>
              <a:rPr lang="nl-NL" sz="1400" dirty="0"/>
              <a:t>, bonden, talentcoaches). AI/prompt engineering (LLM-ervaring, </a:t>
            </a:r>
            <a:r>
              <a:rPr lang="nl-NL" sz="1400" dirty="0" err="1"/>
              <a:t>kennislaag</a:t>
            </a:r>
            <a:r>
              <a:rPr lang="nl-NL" sz="1400" dirty="0"/>
              <a:t>-bouw). Hosting &amp; privacy (AVG-verantwoorde inrichting). </a:t>
            </a:r>
            <a:r>
              <a:rPr lang="nl-NL" sz="1400" dirty="0" err="1"/>
              <a:t>Onderzoeksbegeleiding</a:t>
            </a:r>
            <a:r>
              <a:rPr lang="nl-NL" sz="1400" dirty="0"/>
              <a:t> evaluatie.</a:t>
            </a:r>
          </a:p>
          <a:p>
            <a:r>
              <a:rPr lang="nl-NL" sz="1400" b="1" dirty="0"/>
              <a:t>Eerste concrete stappen:</a:t>
            </a:r>
            <a:endParaRPr lang="nl-NL" sz="1400" dirty="0"/>
          </a:p>
          <a:p>
            <a:r>
              <a:rPr lang="nl-NL" sz="1400" dirty="0"/>
              <a:t>Casus afronden (dit canvas) en aftrap met Lab-begeleiders.</a:t>
            </a:r>
          </a:p>
          <a:p>
            <a:r>
              <a:rPr lang="nl-NL" sz="1400" dirty="0"/>
              <a:t>Lijst kennisbronnen samenstellen.</a:t>
            </a:r>
          </a:p>
          <a:p>
            <a:r>
              <a:rPr lang="nl-NL" sz="1400" dirty="0"/>
              <a:t>Eerste prompt-versie + chat-omgeving opzetten en met 2-3 collega-coaches testen.</a:t>
            </a:r>
          </a:p>
          <a:p>
            <a:r>
              <a:rPr lang="nl-NL" sz="1400" dirty="0"/>
              <a:t>Pilotcoaches werven via bestaande netwerken.</a:t>
            </a:r>
          </a:p>
          <a:p>
            <a:r>
              <a:rPr lang="nl-NL" sz="1400" dirty="0"/>
              <a:t>Evaluatie-aanpak vaststellen — graag met Lab-begeleiders.</a:t>
            </a:r>
          </a:p>
          <a:p>
            <a:r>
              <a:rPr lang="nl-NL" sz="1400" b="1" dirty="0"/>
              <a:t>Resource-realiteit:</a:t>
            </a:r>
            <a:r>
              <a:rPr lang="nl-NL" sz="1400" dirty="0"/>
              <a:t> klein team binnen één Lab-cyclus. Niveau 2 is bewust uit deze MVP gehouden om realistisch te blijven binnen tijd en bemensing.</a:t>
            </a:r>
          </a:p>
          <a:p>
            <a:endParaRPr lang="en-US" sz="1228" dirty="0"/>
          </a:p>
        </p:txBody>
      </p:sp>
    </p:spTree>
  </p:cSld>
  <p:clrMapOvr>
    <a:masterClrMapping/>
  </p:clrMapOvr>
</p:sld>
</file>

<file path=ppt/theme/theme1.xml><?xml version="1.0" encoding="utf-8"?>
<a:theme xmlns:a="http://schemas.openxmlformats.org/drawingml/2006/main" name="21_BasicWhite">
  <a:themeElements>
    <a:clrScheme name="21_BasicWhite">
      <a:dk1>
        <a:srgbClr val="FFFFFF"/>
      </a:dk1>
      <a:lt1>
        <a:srgbClr val="E08230"/>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E0823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E0823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f105c73d-7eaf-44bf-89e9-5f1c863ba03e" xsi:nil="true"/>
    <lcf76f155ced4ddcb4097134ff3c332f xmlns="1c94e99b-cc81-44ca-a3f8-2b84f84edf84">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D20E0AA3342444A83D99E0AC3DC2DC1" ma:contentTypeVersion="15" ma:contentTypeDescription="Een nieuw document maken." ma:contentTypeScope="" ma:versionID="df1a49ca82a6738154ddb8b68f8c7d71">
  <xsd:schema xmlns:xsd="http://www.w3.org/2001/XMLSchema" xmlns:xs="http://www.w3.org/2001/XMLSchema" xmlns:p="http://schemas.microsoft.com/office/2006/metadata/properties" xmlns:ns2="1c94e99b-cc81-44ca-a3f8-2b84f84edf84" xmlns:ns3="f105c73d-7eaf-44bf-89e9-5f1c863ba03e" targetNamespace="http://schemas.microsoft.com/office/2006/metadata/properties" ma:root="true" ma:fieldsID="bc8b4a24f8e9eb07c7c8033d2c0c6412" ns2:_="" ns3:_="">
    <xsd:import namespace="1c94e99b-cc81-44ca-a3f8-2b84f84edf84"/>
    <xsd:import namespace="f105c73d-7eaf-44bf-89e9-5f1c863ba03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94e99b-cc81-44ca-a3f8-2b84f84edf8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Afbeeldingtags" ma:readOnly="false" ma:fieldId="{5cf76f15-5ced-4ddc-b409-7134ff3c332f}" ma:taxonomyMulti="true" ma:sspId="b99c9bf4-d278-4956-b571-4365f6ed06d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105c73d-7eaf-44bf-89e9-5f1c863ba03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b265cef-30fd-4f4d-8e54-162dcd635246}" ma:internalName="TaxCatchAll" ma:showField="CatchAllData" ma:web="f105c73d-7eaf-44bf-89e9-5f1c863ba03e">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Gedeeld met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1CD725A-779A-4AAA-B037-4B62BBC4F07A}">
  <ds:schemaRefs>
    <ds:schemaRef ds:uri="http://schemas.microsoft.com/sharepoint/v3/contenttype/forms"/>
  </ds:schemaRefs>
</ds:datastoreItem>
</file>

<file path=customXml/itemProps2.xml><?xml version="1.0" encoding="utf-8"?>
<ds:datastoreItem xmlns:ds="http://schemas.openxmlformats.org/officeDocument/2006/customXml" ds:itemID="{D0253E3E-7AB1-4B90-AE80-218B18F459AB}">
  <ds:schemaRefs>
    <ds:schemaRef ds:uri="http://www.w3.org/XML/1998/namespace"/>
    <ds:schemaRef ds:uri="http://schemas.microsoft.com/office/2006/documentManagement/types"/>
    <ds:schemaRef ds:uri="http://purl.org/dc/terms/"/>
    <ds:schemaRef ds:uri="1c94e99b-cc81-44ca-a3f8-2b84f84edf84"/>
    <ds:schemaRef ds:uri="http://purl.org/dc/dcmitype/"/>
    <ds:schemaRef ds:uri="http://schemas.openxmlformats.org/package/2006/metadata/core-properties"/>
    <ds:schemaRef ds:uri="http://purl.org/dc/elements/1.1/"/>
    <ds:schemaRef ds:uri="http://schemas.microsoft.com/office/infopath/2007/PartnerControls"/>
    <ds:schemaRef ds:uri="f105c73d-7eaf-44bf-89e9-5f1c863ba03e"/>
    <ds:schemaRef ds:uri="http://schemas.microsoft.com/office/2006/metadata/properties"/>
  </ds:schemaRefs>
</ds:datastoreItem>
</file>

<file path=customXml/itemProps3.xml><?xml version="1.0" encoding="utf-8"?>
<ds:datastoreItem xmlns:ds="http://schemas.openxmlformats.org/officeDocument/2006/customXml" ds:itemID="{F418D79F-BC53-4002-80A5-6CA7DDB2DB1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c94e99b-cc81-44ca-a3f8-2b84f84edf84"/>
    <ds:schemaRef ds:uri="f105c73d-7eaf-44bf-89e9-5f1c863ba03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140912</TotalTime>
  <Words>2628</Words>
  <Application>Microsoft Macintosh PowerPoint</Application>
  <PresentationFormat>Aangepast</PresentationFormat>
  <Paragraphs>135</Paragraphs>
  <Slides>3</Slides>
  <Notes>3</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3</vt:i4>
      </vt:variant>
    </vt:vector>
  </HeadingPairs>
  <TitlesOfParts>
    <vt:vector size="7" baseType="lpstr">
      <vt:lpstr>Arial</vt:lpstr>
      <vt:lpstr>Helvetica</vt:lpstr>
      <vt:lpstr>Helvetica Neue</vt:lpstr>
      <vt:lpstr>21_BasicWhite</vt:lpstr>
      <vt:lpstr>PowerPoint-presentatie</vt:lpstr>
      <vt:lpstr>PowerPoint-presentatie</vt:lpstr>
      <vt:lpstr>PowerPoint-presentatie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Goudsmit,Jos J.F.A.</cp:lastModifiedBy>
  <cp:revision>10</cp:revision>
  <dcterms:modified xsi:type="dcterms:W3CDTF">2026-05-12T11:43:11Z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0x0101009D20E0AA3342444A83D99E0AC3DC2DC1</vt:lpwstr>
  </property>
  <property fmtid="{D5CDD505-2E9C-101B-9397-08002B2CF9AE}" pid="3" name="MediaServiceImageTags">
    <vt:lpwstr/>
  </property>
</Properties>
</file>